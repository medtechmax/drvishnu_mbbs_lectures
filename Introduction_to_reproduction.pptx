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3478-CAE5-63EF-C276-ADCD27A07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C6730-90EA-CD2F-C3D1-809E66F4D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2A61D-A75C-569A-A774-F0410F83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34546-0CDC-FBD8-9160-500D6497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66E0A-9DFB-6A47-AF66-6C9BBE8F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0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C814-34BC-7B5B-1DEC-A95194A2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44952-7A8D-7604-32F2-DC542B937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2D648-15AC-4897-D4D9-EE233BBB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2A23F-A051-4CB3-76FA-91A9F4DA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71400-0B02-A702-2699-E33E480A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2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9DB1-7D39-67A7-2F23-760BFCD7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FF65F-F22B-D143-7B52-A52C763AD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D9EEE-480B-0DFD-0A24-E602BB12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E2135-BFDF-A1EB-BE29-3473C7A0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88B50-FA6E-9E30-B02B-A8AEB3CB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7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0361-E832-FEAC-78BF-2C9D2CC6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C785-0000-409C-954B-1ADED479A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81810-1C4B-38B0-9861-97DF3FEA8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757A9-BF82-F245-7226-BDC10F1D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DAC81-3C9A-1D09-CF2A-61D091CB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1A1DB-9432-5FDD-134E-2A69E180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3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A216-79DF-9F5F-EF64-34A6E219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BD36D-B355-A1E5-30E3-D1A50B740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E3605-1B87-BA95-C6B4-F18A8FD6F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31A95-0277-58E7-F1E6-A535B1067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65C8A-FEAB-41B8-C3E0-8222A455C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8959A-A010-6D74-2E4B-2A8938F8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49A4D-450C-5609-55FA-C7BEB8AC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D7093-E6B7-F16E-E753-A0A997AB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9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698E-91EF-FCE7-EEB6-D1DC71A4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44A31-98A5-B3CD-097E-7733425A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1A389-D967-BB3B-5B92-2A0F3666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523A-6701-075B-0453-95E0C38C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4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5B81C-06D7-20C8-5AFD-AE7F7229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B0785-BFAD-D0B1-69BA-A6752990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A426B-A267-FCF2-ACA0-93D711FA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4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893CA-D98A-4AE2-60B5-92D119EB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4253-4FB3-6666-CAAC-5FC88BA04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03725-79E5-C9C6-3F3F-E85D35B3D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72362-5ECA-9E98-30CB-A4ED54AA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8FBC5-4EBF-BD9A-91CA-78F2BE8C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EFE8F-11F8-8A0B-0E1F-825DCAED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5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88C3-5F90-0098-DC09-907D4D24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DADB9-FAA4-092C-377E-8B230EAC4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2F54E-BFC1-70A6-21EC-0F9E74E3E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5A04F-ACC1-1DAE-7904-A0837122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C55C-0CE1-421F-5C79-5E311468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8ABB9-04DD-5A97-A80F-E9FB205C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6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74A3-EFDC-6057-45B1-DBF3DFAE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13332-8013-4D29-4FC0-A98B51E91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FB1F-D058-BF53-D58A-1B1D7FE9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659CA-D735-04E7-F1D4-2CAE2FC1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8EC7-4A82-DAB4-E67C-18F500230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4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59704-BDFC-2BBC-43F7-F22BF0252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FCA20-A01E-1D7E-4EB5-13AF629EB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FE8E-52B2-103E-2990-1ED7E03C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2C4C-EEF4-4868-E921-69842C36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C844-D490-F691-7552-DD881544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4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4D6A8-5D76-BBAD-2F8D-02D6BACF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ABA0-F62C-80DE-4C59-0E58B528E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A815F-1411-E82B-46F3-62AB8786A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4E62C-039B-49BE-BB3E-ADE4AC217ACF}" type="datetimeFigureOut">
              <a:rPr lang="en-US" smtClean="0"/>
              <a:t>18-Jun-25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80228-453B-FCEC-8221-38A24ACF7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93217-5EF3-2145-1DF6-4A6C21AE9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E5B4E-C0E7-4711-A747-909474BD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97AD-C529-07CC-2F63-111DBCBFA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Introduction to Reproduction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E8FDC-A207-7976-72B5-0327516B4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1148"/>
            <a:ext cx="9144000" cy="1780666"/>
          </a:xfrm>
        </p:spPr>
        <p:txBody>
          <a:bodyPr>
            <a:normAutofit fontScale="62500" lnSpcReduction="20000"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: 18-06-2025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Yerra Vishnu Akhil Raj Kumar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Resident, AIIMS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Bibinagar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MBBS- AIIMS Patna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Bio-Design Fellow- IIT Hyderabad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Physiology- AIIMS Raipur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7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B820-9BDD-6C38-D0AE-89A1750D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CAC8-48F9-FACF-E62D-F617886B0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Scenarios</a:t>
            </a:r>
          </a:p>
          <a:p>
            <a:r>
              <a:rPr lang="en-US" dirty="0"/>
              <a:t>Male and Female Reproduction systems</a:t>
            </a:r>
          </a:p>
          <a:p>
            <a:r>
              <a:rPr lang="en-US" dirty="0"/>
              <a:t>Techniques</a:t>
            </a:r>
          </a:p>
          <a:p>
            <a:r>
              <a:rPr lang="en-US" dirty="0"/>
              <a:t>Recent Advances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2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0275D4-AFA7-C6EE-B761-32F7B551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Case Scenarios</a:t>
            </a:r>
          </a:p>
        </p:txBody>
      </p:sp>
    </p:spTree>
    <p:extLst>
      <p:ext uri="{BB962C8B-B14F-4D97-AF65-F5344CB8AC3E}">
        <p14:creationId xmlns:p14="http://schemas.microsoft.com/office/powerpoint/2010/main" val="14568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2999-1FBD-B9BE-F411-8EE4927E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Case 1</a:t>
            </a:r>
          </a:p>
        </p:txBody>
      </p:sp>
    </p:spTree>
    <p:extLst>
      <p:ext uri="{BB962C8B-B14F-4D97-AF65-F5344CB8AC3E}">
        <p14:creationId xmlns:p14="http://schemas.microsoft.com/office/powerpoint/2010/main" val="3581705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13EA7C-0D67-4E73-1BC7-BFC46336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A 17-year-old girl, Priya from Bhopal, visits the gynecology OPD with her mother due to </a:t>
            </a:r>
            <a:r>
              <a:rPr lang="en-US" sz="3200" b="1" dirty="0">
                <a:latin typeface="+mn-lt"/>
              </a:rPr>
              <a:t>absent menstruation</a:t>
            </a:r>
            <a:r>
              <a:rPr lang="en-US" sz="3200" dirty="0">
                <a:latin typeface="+mn-lt"/>
              </a:rPr>
              <a:t>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2C3287-02CC-92FE-0553-F998B64DD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History reveals</a:t>
            </a:r>
            <a:endParaRPr lang="en-US" dirty="0"/>
          </a:p>
          <a:p>
            <a:r>
              <a:rPr lang="en-US" dirty="0"/>
              <a:t>Well-developed breasts (Tanner Stage V)</a:t>
            </a:r>
          </a:p>
          <a:p>
            <a:r>
              <a:rPr lang="en-US" dirty="0"/>
              <a:t>Sparse/absent pubic and axillary hair</a:t>
            </a:r>
          </a:p>
          <a:p>
            <a:r>
              <a:rPr lang="en-US" dirty="0"/>
              <a:t>No history of menarche</a:t>
            </a:r>
          </a:p>
          <a:p>
            <a:r>
              <a:rPr lang="en-US" dirty="0"/>
              <a:t>Height is taller than peers</a:t>
            </a:r>
          </a:p>
          <a:p>
            <a:r>
              <a:rPr lang="en-US" dirty="0"/>
              <a:t>External genitalia appear female</a:t>
            </a:r>
          </a:p>
          <a:p>
            <a:r>
              <a:rPr lang="en-US" dirty="0"/>
              <a:t>Ultrasound shows </a:t>
            </a:r>
            <a:r>
              <a:rPr lang="en-US" b="1" dirty="0"/>
              <a:t>absence of uterus and ovaries</a:t>
            </a:r>
            <a:endParaRPr lang="en-US" dirty="0"/>
          </a:p>
          <a:p>
            <a:r>
              <a:rPr lang="en-US" dirty="0"/>
              <a:t>Karyotyping: </a:t>
            </a:r>
            <a:r>
              <a:rPr lang="en-US" b="1" dirty="0"/>
              <a:t>46, XY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6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F2E9-58DD-609B-868D-DDA72EBD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33570-2189-30EE-CBCD-EFA65CBC0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likely diagnosis?</a:t>
            </a:r>
          </a:p>
          <a:p>
            <a:r>
              <a:rPr lang="en-US" dirty="0"/>
              <a:t>What is the physiological cause behind this presentation?</a:t>
            </a:r>
          </a:p>
          <a:p>
            <a:r>
              <a:rPr lang="en-US" dirty="0"/>
              <a:t>Why are breasts present but no menstruation?</a:t>
            </a:r>
          </a:p>
        </p:txBody>
      </p:sp>
    </p:spTree>
    <p:extLst>
      <p:ext uri="{BB962C8B-B14F-4D97-AF65-F5344CB8AC3E}">
        <p14:creationId xmlns:p14="http://schemas.microsoft.com/office/powerpoint/2010/main" val="374693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25AD-4FF1-10AD-ACFE-0648D0D3B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FD7F5-5C7F-9377-2D7D-CE4C53422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120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02A5-D511-F561-4328-BC126C84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6948E2-4087-2BE5-85CC-EB322902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A 16-year-old schoolgirl, Meenakshi from Chennai, presents with </a:t>
            </a:r>
            <a:r>
              <a:rPr lang="en-US" sz="3200" b="1" dirty="0">
                <a:latin typeface="+mn-lt"/>
              </a:rPr>
              <a:t>no onset of periods</a:t>
            </a:r>
            <a:r>
              <a:rPr lang="en-US" sz="3200" dirty="0">
                <a:latin typeface="+mn-lt"/>
              </a:rPr>
              <a:t> and short stature.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8FF81B-EC5C-2FF0-7468-49D414A6E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History:</a:t>
            </a:r>
            <a:endParaRPr lang="en-US" dirty="0"/>
          </a:p>
          <a:p>
            <a:r>
              <a:rPr lang="en-US" dirty="0"/>
              <a:t>Height: 138 cm</a:t>
            </a:r>
          </a:p>
          <a:p>
            <a:r>
              <a:rPr lang="en-US" dirty="0"/>
              <a:t>Webbed neck and broad chest</a:t>
            </a:r>
          </a:p>
          <a:p>
            <a:r>
              <a:rPr lang="en-US" dirty="0"/>
              <a:t>No breast development</a:t>
            </a:r>
          </a:p>
          <a:p>
            <a:r>
              <a:rPr lang="en-US" dirty="0"/>
              <a:t>External genitalia: normal female</a:t>
            </a:r>
          </a:p>
          <a:p>
            <a:r>
              <a:rPr lang="en-US" dirty="0"/>
              <a:t>No significant pubertal growth spurt</a:t>
            </a:r>
          </a:p>
          <a:p>
            <a:r>
              <a:rPr lang="en-US" dirty="0"/>
              <a:t>USG: Streak ovaries and hypoplastic uterus</a:t>
            </a:r>
          </a:p>
          <a:p>
            <a:r>
              <a:rPr lang="en-US" dirty="0"/>
              <a:t>Karyotyping: </a:t>
            </a:r>
            <a:r>
              <a:rPr lang="en-US" b="1" dirty="0"/>
              <a:t>45, X0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8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2573-3D2D-A7F8-D0F2-8D7D47C7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769E-8FAC-C3CC-1A6C-BB8F953D4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84FB-6DBD-A498-D4F2-A31AAFABB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likely chromosomal abnormality?</a:t>
            </a:r>
          </a:p>
          <a:p>
            <a:r>
              <a:rPr lang="en-US" dirty="0"/>
              <a:t>Why has puberty not progressed in this girl?</a:t>
            </a:r>
          </a:p>
          <a:p>
            <a:r>
              <a:rPr lang="en-US" dirty="0"/>
              <a:t>What hormones would be altered?</a:t>
            </a:r>
          </a:p>
        </p:txBody>
      </p:sp>
    </p:spTree>
    <p:extLst>
      <p:ext uri="{BB962C8B-B14F-4D97-AF65-F5344CB8AC3E}">
        <p14:creationId xmlns:p14="http://schemas.microsoft.com/office/powerpoint/2010/main" val="2525454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3625-996B-E31C-932C-AC4F9209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5DC3-E11F-0413-9B82-43EC427A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FCF27-A3C8-0AF6-33D2-6BD16918F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949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917F5-A797-241A-BC34-4D6D2D37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1C8F2D-5A70-9887-DF87-43E304C6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An IT professional couple from Hyderabad, married for 4 years, unable to conceive.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2C44D7-94BD-050A-9DA1-2E53522B5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History of wife (28 yrs):</a:t>
            </a:r>
            <a:endParaRPr lang="en-US" dirty="0"/>
          </a:p>
          <a:p>
            <a:r>
              <a:rPr lang="en-US" dirty="0"/>
              <a:t>Irregular periods since adolescence</a:t>
            </a:r>
          </a:p>
          <a:p>
            <a:r>
              <a:rPr lang="en-US" dirty="0"/>
              <a:t>Weight gain and facial hair</a:t>
            </a:r>
          </a:p>
          <a:p>
            <a:r>
              <a:rPr lang="en-US" dirty="0"/>
              <a:t>BMI: 30</a:t>
            </a:r>
          </a:p>
          <a:p>
            <a:r>
              <a:rPr lang="en-US" dirty="0"/>
              <a:t>Acne, hirsutism</a:t>
            </a:r>
          </a:p>
          <a:p>
            <a:r>
              <a:rPr lang="en-US" dirty="0"/>
              <a:t>Ultrasound: Bilaterally enlarged ovaries with peripheral cysts</a:t>
            </a:r>
          </a:p>
          <a:p>
            <a:r>
              <a:rPr lang="en-US" dirty="0"/>
              <a:t>Hormones: ↑LH:FSH ratio, ↑androgens, normal prolactin</a:t>
            </a:r>
          </a:p>
        </p:txBody>
      </p:sp>
    </p:spTree>
    <p:extLst>
      <p:ext uri="{BB962C8B-B14F-4D97-AF65-F5344CB8AC3E}">
        <p14:creationId xmlns:p14="http://schemas.microsoft.com/office/powerpoint/2010/main" val="3452558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ECFE-C1A8-1434-AEAE-CAFF6284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D665-012A-DD7F-9387-253F7F7C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B0C7-6C86-05C3-C000-1380EE0AA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hormonal imbalance leads to infertility in this case?</a:t>
            </a:r>
          </a:p>
          <a:p>
            <a:r>
              <a:rPr lang="en-US" dirty="0"/>
              <a:t>What lifestyle modifications or treatments can help?</a:t>
            </a:r>
          </a:p>
        </p:txBody>
      </p:sp>
    </p:spTree>
    <p:extLst>
      <p:ext uri="{BB962C8B-B14F-4D97-AF65-F5344CB8AC3E}">
        <p14:creationId xmlns:p14="http://schemas.microsoft.com/office/powerpoint/2010/main" val="112807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244B-C8AA-B256-B95E-9B14F21A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312B-4D08-DF60-9E00-A7E62C7D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B8213-1663-67AD-FF38-3B9E4BBB0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9522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A2C8-B940-5540-0658-D233514A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52BD3E-0EDE-9EFD-AE62-23F3E091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Rani, 25-year-old mother from rural UP, delivered her second child 6 weeks ago, now visiting for </a:t>
            </a:r>
            <a:r>
              <a:rPr lang="en-US" sz="3200" b="1" dirty="0">
                <a:latin typeface="+mn-lt"/>
              </a:rPr>
              <a:t>family planning</a:t>
            </a:r>
            <a:r>
              <a:rPr lang="en-US" sz="3200" dirty="0">
                <a:latin typeface="+mn-lt"/>
              </a:rPr>
              <a:t> advice.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CE5610-76FC-EEAE-9746-9C9095F2E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History:</a:t>
            </a:r>
            <a:endParaRPr lang="en-US" dirty="0"/>
          </a:p>
          <a:p>
            <a:r>
              <a:rPr lang="en-US" dirty="0"/>
              <a:t>Wants to space next pregnancy for at least 3 years</a:t>
            </a:r>
          </a:p>
          <a:p>
            <a:r>
              <a:rPr lang="en-US" dirty="0"/>
              <a:t>Breastfeeding regularly</a:t>
            </a:r>
          </a:p>
          <a:p>
            <a:r>
              <a:rPr lang="en-US" dirty="0"/>
              <a:t>Husband prefers reversible method</a:t>
            </a:r>
          </a:p>
          <a:p>
            <a:r>
              <a:rPr lang="en-US" dirty="0"/>
              <a:t>Limited access to healthcare</a:t>
            </a:r>
          </a:p>
          <a:p>
            <a:r>
              <a:rPr lang="en-US" dirty="0"/>
              <a:t>Wants something long-term and hassle-free</a:t>
            </a:r>
          </a:p>
        </p:txBody>
      </p:sp>
    </p:spTree>
    <p:extLst>
      <p:ext uri="{BB962C8B-B14F-4D97-AF65-F5344CB8AC3E}">
        <p14:creationId xmlns:p14="http://schemas.microsoft.com/office/powerpoint/2010/main" val="1086222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8EE84-FEA6-CF8F-C0BB-F7A93778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26B7-F7A3-01FC-A3FD-77F61650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72682-5786-2EEB-B245-ABA053BE4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contraceptive options are ideal for her?</a:t>
            </a:r>
          </a:p>
          <a:p>
            <a:r>
              <a:rPr lang="en-US" dirty="0"/>
              <a:t>Why is lactational amenorrhea not a long-term solution?</a:t>
            </a:r>
          </a:p>
          <a:p>
            <a:r>
              <a:rPr lang="en-US" dirty="0"/>
              <a:t>How does each method (</a:t>
            </a:r>
            <a:r>
              <a:rPr lang="en-US" dirty="0" err="1"/>
              <a:t>CuT</a:t>
            </a:r>
            <a:r>
              <a:rPr lang="en-US" dirty="0"/>
              <a:t>, POPs, DMPA) work physiologically?</a:t>
            </a:r>
          </a:p>
        </p:txBody>
      </p:sp>
    </p:spTree>
    <p:extLst>
      <p:ext uri="{BB962C8B-B14F-4D97-AF65-F5344CB8AC3E}">
        <p14:creationId xmlns:p14="http://schemas.microsoft.com/office/powerpoint/2010/main" val="50393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B12C-7B17-DDF8-E611-C4ED99452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E65A-AB22-F260-5DB3-5FFE2A55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Case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9B36A-3E28-B58F-412B-74EDCEAC7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0779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A93C-E0A4-58CD-9473-57C87EC9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96CAFC-6821-B1F6-7A51-3B1962ED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</a:rPr>
              <a:t>Mr. Rakesh, a 32-year-old software engineer from Pune, presents to the fertility clinic with his wife after </a:t>
            </a:r>
            <a:r>
              <a:rPr lang="en-US" sz="3200" b="1" dirty="0">
                <a:latin typeface="+mn-lt"/>
              </a:rPr>
              <a:t>2 years of unprotected intercourse</a:t>
            </a:r>
            <a:r>
              <a:rPr lang="en-US" sz="3200" dirty="0">
                <a:latin typeface="+mn-lt"/>
              </a:rPr>
              <a:t> with no conception.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9EF34D-C875-67B7-FBC2-ECA547A70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History:</a:t>
            </a:r>
          </a:p>
          <a:p>
            <a:r>
              <a:rPr lang="en-US" dirty="0"/>
              <a:t>Normal libido and sexual function</a:t>
            </a:r>
          </a:p>
          <a:p>
            <a:r>
              <a:rPr lang="en-US" dirty="0"/>
              <a:t>No significant past medical or surgical history</a:t>
            </a:r>
          </a:p>
          <a:p>
            <a:r>
              <a:rPr lang="en-US" dirty="0"/>
              <a:t>No history of mumps or trauma</a:t>
            </a:r>
          </a:p>
          <a:p>
            <a:r>
              <a:rPr lang="en-US" dirty="0"/>
              <a:t>No exposure to chemotherapy or radiation</a:t>
            </a:r>
          </a:p>
          <a:p>
            <a:r>
              <a:rPr lang="en-US" dirty="0"/>
              <a:t>Married for 3 years</a:t>
            </a:r>
          </a:p>
          <a:p>
            <a:r>
              <a:rPr lang="en-US" dirty="0"/>
              <a:t>No prior pregnancies in wife or himself</a:t>
            </a:r>
          </a:p>
        </p:txBody>
      </p:sp>
    </p:spTree>
    <p:extLst>
      <p:ext uri="{BB962C8B-B14F-4D97-AF65-F5344CB8AC3E}">
        <p14:creationId xmlns:p14="http://schemas.microsoft.com/office/powerpoint/2010/main" val="3289579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860D-1094-A8C6-2704-815F9C26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B73C-094F-75C2-752E-60F0E321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9D0A-F9C9-F909-FE0C-98027D00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Clinical Findings:</a:t>
            </a:r>
          </a:p>
          <a:p>
            <a:r>
              <a:rPr lang="en-US" dirty="0"/>
              <a:t>Secondary sexual characteristics normal</a:t>
            </a:r>
          </a:p>
          <a:p>
            <a:r>
              <a:rPr lang="en-US" dirty="0"/>
              <a:t>Testicular volume: Normal</a:t>
            </a:r>
          </a:p>
          <a:p>
            <a:r>
              <a:rPr lang="en-US" dirty="0"/>
              <a:t>Vas deferens palpable bilaterally</a:t>
            </a:r>
          </a:p>
          <a:p>
            <a:r>
              <a:rPr lang="en-US" dirty="0"/>
              <a:t>Semen analysis:</a:t>
            </a:r>
          </a:p>
          <a:p>
            <a:pPr lvl="1"/>
            <a:r>
              <a:rPr lang="en-US" b="1" dirty="0"/>
              <a:t>Volume:</a:t>
            </a:r>
            <a:r>
              <a:rPr lang="en-US" dirty="0"/>
              <a:t> 2.5 ml</a:t>
            </a:r>
          </a:p>
          <a:p>
            <a:pPr lvl="1"/>
            <a:r>
              <a:rPr lang="en-US" b="1" dirty="0"/>
              <a:t>Sperm count:</a:t>
            </a:r>
            <a:r>
              <a:rPr lang="en-US" dirty="0"/>
              <a:t> </a:t>
            </a:r>
            <a:r>
              <a:rPr lang="en-US" b="1" dirty="0"/>
              <a:t>0 / high power field</a:t>
            </a:r>
            <a:r>
              <a:rPr lang="en-US" dirty="0"/>
              <a:t> (confirmed on two samples)</a:t>
            </a:r>
          </a:p>
          <a:p>
            <a:pPr lvl="1"/>
            <a:r>
              <a:rPr lang="en-US" b="1" dirty="0"/>
              <a:t>Fructose test:</a:t>
            </a:r>
            <a:r>
              <a:rPr lang="en-US" dirty="0"/>
              <a:t> Positive</a:t>
            </a:r>
          </a:p>
          <a:p>
            <a:r>
              <a:rPr lang="en-US" dirty="0"/>
              <a:t>Hormonal profile:</a:t>
            </a:r>
          </a:p>
          <a:p>
            <a:pPr lvl="1"/>
            <a:r>
              <a:rPr lang="en-US" b="1" dirty="0"/>
              <a:t>FSH &amp; LH:</a:t>
            </a:r>
            <a:r>
              <a:rPr lang="en-US" dirty="0"/>
              <a:t> Normal</a:t>
            </a:r>
          </a:p>
          <a:p>
            <a:pPr lvl="1"/>
            <a:r>
              <a:rPr lang="en-US" b="1" dirty="0"/>
              <a:t>Testosterone:</a:t>
            </a:r>
            <a:r>
              <a:rPr lang="en-US" dirty="0"/>
              <a:t> Normal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2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C1B3-F536-3E27-F940-DFFC1E86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5CD2-31BD-1015-6256-D5C7B3E8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7408E-9847-E519-A78C-86A8A8193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possible causes of azoospermia?</a:t>
            </a:r>
          </a:p>
          <a:p>
            <a:r>
              <a:rPr lang="en-US" dirty="0"/>
              <a:t>How do you differentiate between obstructive and non-obstructive azoospermia?</a:t>
            </a:r>
          </a:p>
          <a:p>
            <a:r>
              <a:rPr lang="en-US" dirty="0"/>
              <a:t>What is the significance of fructose positivity in semen?</a:t>
            </a:r>
          </a:p>
          <a:p>
            <a:r>
              <a:rPr lang="en-US" dirty="0"/>
              <a:t>How is spermatogenesis regulated hormonally?</a:t>
            </a:r>
          </a:p>
          <a:p>
            <a:r>
              <a:rPr lang="en-US" dirty="0"/>
              <a:t>What next investigations are needed (e.g., testicular biopsy, scrotal ultrasound)?</a:t>
            </a:r>
          </a:p>
        </p:txBody>
      </p:sp>
    </p:spTree>
    <p:extLst>
      <p:ext uri="{BB962C8B-B14F-4D97-AF65-F5344CB8AC3E}">
        <p14:creationId xmlns:p14="http://schemas.microsoft.com/office/powerpoint/2010/main" val="597308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9F08-EECD-88DD-D547-2DF920F8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Male and Female Reproductive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9A6A-23D7-9305-A606-D082E55D1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2880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5308-4367-E75C-0A79-E3AC34770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A080-1C95-8ECD-A5D5-4A0E1BE29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170" name="Picture 2" descr="Anatomy of the Male Reproductive System">
            <a:extLst>
              <a:ext uri="{FF2B5EF4-FFF2-40B4-BE49-F238E27FC236}">
                <a16:creationId xmlns:a16="http://schemas.microsoft.com/office/drawing/2014/main" id="{C5429129-E3EB-B7BC-32B6-A22FBF0A2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648" y="681037"/>
            <a:ext cx="8702241" cy="563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265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B604-0C1C-575F-8B8E-F15F7515B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A441-1FA2-7FD5-05A7-EC05AE81A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194" name="Picture 2" descr="Figure, The Female Reproductive System. In females ...">
            <a:extLst>
              <a:ext uri="{FF2B5EF4-FFF2-40B4-BE49-F238E27FC236}">
                <a16:creationId xmlns:a16="http://schemas.microsoft.com/office/drawing/2014/main" id="{367BAC75-844F-E0CE-D4D4-652CEF63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571500"/>
            <a:ext cx="698182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10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02C7-0207-B98A-54AA-59C1FD0F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8F31-92DB-912C-DB19-03ABE35C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9218" name="Picture 2" descr="Female Reproductive System – Histology Education">
            <a:extLst>
              <a:ext uri="{FF2B5EF4-FFF2-40B4-BE49-F238E27FC236}">
                <a16:creationId xmlns:a16="http://schemas.microsoft.com/office/drawing/2014/main" id="{DDEB04F2-3EF6-ADFC-BE54-1882743D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80975"/>
            <a:ext cx="8591550" cy="649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803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91A3-8FFE-2905-EC82-FCE0DFE7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5044-F670-B9A4-D404-A7C1964A7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5869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DAF7C4-6A17-7C42-E436-F233DE28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&amp; Imaging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2672C4-1D24-7627-025D-D3D1308ED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sz="2600" b="1" dirty="0"/>
              <a:t>Ultrasound (USG)</a:t>
            </a:r>
          </a:p>
          <a:p>
            <a:r>
              <a:rPr lang="en-US" sz="2600" dirty="0"/>
              <a:t>Transabdominal Sonography (TAS)</a:t>
            </a:r>
          </a:p>
          <a:p>
            <a:r>
              <a:rPr lang="en-US" sz="2600" dirty="0"/>
              <a:t>Transvaginal Sonography (TVS)</a:t>
            </a:r>
          </a:p>
          <a:p>
            <a:r>
              <a:rPr lang="en-US" sz="2600" dirty="0"/>
              <a:t>Obstetric USG – Biometry, fetal well-being, anomaly scan</a:t>
            </a:r>
          </a:p>
          <a:p>
            <a:r>
              <a:rPr lang="en-US" sz="2600" dirty="0"/>
              <a:t>Doppler Studies – Uterine, umbilical, and fetal vessels</a:t>
            </a:r>
          </a:p>
          <a:p>
            <a:pPr marL="0" indent="0">
              <a:buNone/>
            </a:pPr>
            <a:r>
              <a:rPr lang="en-US" sz="2600" b="1" dirty="0"/>
              <a:t>2. Hysterosalpingography (HSG)</a:t>
            </a:r>
          </a:p>
          <a:p>
            <a:r>
              <a:rPr lang="en-US" sz="2600" dirty="0"/>
              <a:t>Radiographic imaging of uterus and fallopian tubes using contrast</a:t>
            </a:r>
          </a:p>
          <a:p>
            <a:r>
              <a:rPr lang="en-US" sz="2600" dirty="0"/>
              <a:t>Used in infertility evaluation (tubal patency)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A4B27-4ACE-E51C-5DE3-BE747DA983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3. Saline Infusion </a:t>
            </a:r>
            <a:r>
              <a:rPr lang="en-US" b="1" dirty="0" err="1"/>
              <a:t>Sonohysterography</a:t>
            </a:r>
            <a:r>
              <a:rPr lang="en-US" b="1" dirty="0"/>
              <a:t> (SIS/Saline </a:t>
            </a:r>
            <a:r>
              <a:rPr lang="en-US" b="1" dirty="0" err="1"/>
              <a:t>Hysterosonography</a:t>
            </a:r>
            <a:r>
              <a:rPr lang="en-US" b="1" dirty="0"/>
              <a:t>)</a:t>
            </a:r>
          </a:p>
          <a:p>
            <a:r>
              <a:rPr lang="en-US" dirty="0"/>
              <a:t>Ultrasound with saline injected into uterine cavity to visualize polyps, fibroids, septa</a:t>
            </a:r>
          </a:p>
          <a:p>
            <a:pPr marL="0" indent="0">
              <a:buNone/>
            </a:pPr>
            <a:r>
              <a:rPr lang="en-US" b="1" dirty="0"/>
              <a:t>4. Magnetic Resonance Imaging (MRI)</a:t>
            </a:r>
          </a:p>
          <a:p>
            <a:r>
              <a:rPr lang="en-US" dirty="0"/>
              <a:t>For pelvic mass characterization, deep infiltrating endometriosis</a:t>
            </a:r>
          </a:p>
          <a:p>
            <a:pPr marL="0" indent="0">
              <a:buNone/>
            </a:pPr>
            <a:r>
              <a:rPr lang="en-US" b="1" dirty="0"/>
              <a:t>5. CT Scan (limited use)</a:t>
            </a:r>
          </a:p>
          <a:p>
            <a:r>
              <a:rPr lang="en-US" dirty="0"/>
              <a:t>Usually for malignancy staging when MRI not available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82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5F30-5D8B-DC79-FD95-B7213FCE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0B37C9-3FEF-F3FF-C837-251EE857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Endoscopic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350C47-0713-A015-4836-DB35A6081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Hysteroscopy</a:t>
            </a:r>
          </a:p>
          <a:p>
            <a:r>
              <a:rPr lang="en-US" dirty="0"/>
              <a:t>Direct visualization of uterine cavity using a hysteroscope</a:t>
            </a:r>
          </a:p>
          <a:p>
            <a:r>
              <a:rPr lang="en-US" dirty="0"/>
              <a:t>Diagnostic and operative (polyp removal, septum resection)</a:t>
            </a:r>
          </a:p>
          <a:p>
            <a:pPr marL="0" indent="0">
              <a:buNone/>
            </a:pPr>
            <a:r>
              <a:rPr lang="en-US" b="1" dirty="0"/>
              <a:t>2. Laparoscopy</a:t>
            </a:r>
          </a:p>
          <a:p>
            <a:r>
              <a:rPr lang="en-US" dirty="0"/>
              <a:t>Minimally invasive inspection of pelvic cavity</a:t>
            </a:r>
          </a:p>
          <a:p>
            <a:r>
              <a:rPr lang="en-US" dirty="0"/>
              <a:t>Diagnostic (infertility, endometriosis) or operative (ectopic pregnancy, ovarian cysts, sterilization)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422E8-9254-FB93-EA5F-F8BBD36D4A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Colposcopy</a:t>
            </a:r>
          </a:p>
          <a:p>
            <a:r>
              <a:rPr lang="en-US" dirty="0"/>
              <a:t>Magnified inspection of cervix after applying acetic acid/Lugol’s iodine</a:t>
            </a:r>
          </a:p>
          <a:p>
            <a:r>
              <a:rPr lang="en-US" dirty="0"/>
              <a:t>For evaluation of abnormal Pap smear</a:t>
            </a:r>
          </a:p>
          <a:p>
            <a:pPr marL="0" indent="0">
              <a:buNone/>
            </a:pPr>
            <a:r>
              <a:rPr lang="en-US" b="1" dirty="0"/>
              <a:t>4. Culdoscopy </a:t>
            </a:r>
            <a:r>
              <a:rPr lang="en-US" b="1" i="1" dirty="0"/>
              <a:t>(less commonly used now)</a:t>
            </a:r>
            <a:endParaRPr lang="en-US" b="1" dirty="0"/>
          </a:p>
          <a:p>
            <a:r>
              <a:rPr lang="en-US" dirty="0"/>
              <a:t>Endoscopic exam of pelvic organs via posterior vaginal fornix</a:t>
            </a:r>
          </a:p>
        </p:txBody>
      </p:sp>
    </p:spTree>
    <p:extLst>
      <p:ext uri="{BB962C8B-B14F-4D97-AF65-F5344CB8AC3E}">
        <p14:creationId xmlns:p14="http://schemas.microsoft.com/office/powerpoint/2010/main" val="614437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D1D3-83F4-E299-0530-218CA8D1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92D126-8BAF-8AEB-B4C1-B81BF724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Interventional &amp; Therapeutic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B1E6EC-3F94-09BC-CFCE-64E5F9E1B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Dilation and Curettage (D&amp;C)</a:t>
            </a:r>
          </a:p>
          <a:p>
            <a:r>
              <a:rPr lang="en-US" dirty="0"/>
              <a:t>Used in abnormal uterine bleeding, incomplete abortion, diagnostic curettage</a:t>
            </a:r>
          </a:p>
          <a:p>
            <a:pPr marL="0" indent="0">
              <a:buNone/>
            </a:pPr>
            <a:r>
              <a:rPr lang="en-US" b="1" dirty="0"/>
              <a:t>2. Dilation and Evacuation (D&amp;E)</a:t>
            </a:r>
          </a:p>
          <a:p>
            <a:r>
              <a:rPr lang="en-US" dirty="0"/>
              <a:t>For second-trimester abortion or retained products</a:t>
            </a:r>
          </a:p>
          <a:p>
            <a:pPr marL="0" indent="0">
              <a:buNone/>
            </a:pPr>
            <a:r>
              <a:rPr lang="en-US" b="1" dirty="0"/>
              <a:t>3. Endometrial Biopsy</a:t>
            </a:r>
          </a:p>
          <a:p>
            <a:r>
              <a:rPr lang="en-US" dirty="0"/>
              <a:t>For evaluating abnormal uterine bleeding and infertility</a:t>
            </a:r>
          </a:p>
          <a:p>
            <a:pPr marL="0" indent="0">
              <a:buNone/>
            </a:pPr>
            <a:r>
              <a:rPr lang="en-US" b="1" dirty="0"/>
              <a:t>4. Amniocentesis</a:t>
            </a:r>
          </a:p>
          <a:p>
            <a:r>
              <a:rPr lang="en-US" dirty="0"/>
              <a:t>Sampling amniotic fluid for genetic diagnosis, fetal lung maturity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FB3E9-7AC9-3E07-84AB-2277655EA9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5. Chorionic Villus Sampling (CVS)</a:t>
            </a:r>
          </a:p>
          <a:p>
            <a:r>
              <a:rPr lang="en-US" dirty="0"/>
              <a:t>First-trimester test for fetal karyotyping/genetic disorder</a:t>
            </a:r>
          </a:p>
          <a:p>
            <a:pPr marL="0" indent="0">
              <a:buNone/>
            </a:pPr>
            <a:r>
              <a:rPr lang="en-US" b="1" dirty="0"/>
              <a:t>6. Non-Stress Test (NST)</a:t>
            </a:r>
          </a:p>
          <a:p>
            <a:r>
              <a:rPr lang="en-US" dirty="0"/>
              <a:t>Fetal monitoring in antenatal care to assess heart rate variability</a:t>
            </a:r>
          </a:p>
          <a:p>
            <a:pPr marL="0" indent="0">
              <a:buNone/>
            </a:pPr>
            <a:r>
              <a:rPr lang="en-US" b="1" dirty="0"/>
              <a:t>7. Cardiotocography (CTG)</a:t>
            </a:r>
          </a:p>
          <a:p>
            <a:r>
              <a:rPr lang="en-US" dirty="0"/>
              <a:t>Fetal heart rate and uterine contraction tracing</a:t>
            </a:r>
          </a:p>
        </p:txBody>
      </p:sp>
    </p:spTree>
    <p:extLst>
      <p:ext uri="{BB962C8B-B14F-4D97-AF65-F5344CB8AC3E}">
        <p14:creationId xmlns:p14="http://schemas.microsoft.com/office/powerpoint/2010/main" val="3610705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3DF6E-F03F-70A1-474F-78B9422A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FEAB3-DC23-5D1A-5B21-F5DAEAC2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Assisted Reproduction Techniques (ART)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F63BDC-B44A-0812-56E3-573B50300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Intrauterine Insemination (IUI)</a:t>
            </a:r>
          </a:p>
          <a:p>
            <a:r>
              <a:rPr lang="en-US" dirty="0"/>
              <a:t>Processed sperm introduced into uterine cavity around ovulation</a:t>
            </a:r>
          </a:p>
          <a:p>
            <a:pPr marL="0" indent="0">
              <a:buNone/>
            </a:pPr>
            <a:r>
              <a:rPr lang="en-US" b="1" dirty="0"/>
              <a:t>2. In Vitro Fertilization (IVF)</a:t>
            </a:r>
          </a:p>
          <a:p>
            <a:r>
              <a:rPr lang="en-US" dirty="0"/>
              <a:t>Oocyte retrieval, fertilization in lab, embryo transfer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8300B-52F7-1553-DCCF-74B48FDF69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Intracytoplasmic Sperm Injection (ICSI)</a:t>
            </a:r>
          </a:p>
          <a:p>
            <a:r>
              <a:rPr lang="en-US" dirty="0"/>
              <a:t>Single sperm injected into oocyte, used in severe male factor infertility</a:t>
            </a:r>
          </a:p>
          <a:p>
            <a:pPr marL="0" indent="0">
              <a:buNone/>
            </a:pPr>
            <a:r>
              <a:rPr lang="en-US" b="1" dirty="0"/>
              <a:t>4. Embryo Cryopreservation &amp; Transfer</a:t>
            </a:r>
          </a:p>
          <a:p>
            <a:r>
              <a:rPr lang="en-US" dirty="0"/>
              <a:t>Embryos stored for later use, common in IVF cycles</a:t>
            </a:r>
          </a:p>
        </p:txBody>
      </p:sp>
    </p:spTree>
    <p:extLst>
      <p:ext uri="{BB962C8B-B14F-4D97-AF65-F5344CB8AC3E}">
        <p14:creationId xmlns:p14="http://schemas.microsoft.com/office/powerpoint/2010/main" val="480029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2E5BB-DE2B-1EA5-15E3-1D881FB7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DB0D61-38D3-7609-8626-A785EEA5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&amp; Hormonal Tests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EF0F4-AED8-AA0E-742F-1585EEDC4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Karyotyping</a:t>
            </a:r>
          </a:p>
          <a:p>
            <a:r>
              <a:rPr lang="en-US" dirty="0"/>
              <a:t>Chromosomal analysis for infertility, recurrent pregnancy loss</a:t>
            </a:r>
          </a:p>
          <a:p>
            <a:pPr marL="0" indent="0">
              <a:buNone/>
            </a:pPr>
            <a:r>
              <a:rPr lang="en-US" b="1" dirty="0"/>
              <a:t>2. Hormonal Assays</a:t>
            </a:r>
          </a:p>
          <a:p>
            <a:r>
              <a:rPr lang="en-US" dirty="0"/>
              <a:t>FSH, LH, AMH, Prolactin, TSH, Estradiol, Testosterone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ACC0-1E0D-C666-EB59-CFEFBE1FEB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Pap Smear</a:t>
            </a:r>
          </a:p>
          <a:p>
            <a:r>
              <a:rPr lang="en-US" dirty="0"/>
              <a:t>Cervical cancer screening</a:t>
            </a:r>
          </a:p>
          <a:p>
            <a:pPr marL="0" indent="0">
              <a:buNone/>
            </a:pPr>
            <a:r>
              <a:rPr lang="en-US" b="1" dirty="0"/>
              <a:t>4. HPV DNA Testing</a:t>
            </a:r>
          </a:p>
          <a:p>
            <a:r>
              <a:rPr lang="en-US" dirty="0"/>
              <a:t>For high-risk HPV strains (cervical cancer risk assessment)</a:t>
            </a:r>
          </a:p>
        </p:txBody>
      </p:sp>
    </p:spTree>
    <p:extLst>
      <p:ext uri="{BB962C8B-B14F-4D97-AF65-F5344CB8AC3E}">
        <p14:creationId xmlns:p14="http://schemas.microsoft.com/office/powerpoint/2010/main" val="2362681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3AAA-37EB-702F-59E1-C995263F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Recent Advances</a:t>
            </a:r>
          </a:p>
        </p:txBody>
      </p:sp>
    </p:spTree>
    <p:extLst>
      <p:ext uri="{BB962C8B-B14F-4D97-AF65-F5344CB8AC3E}">
        <p14:creationId xmlns:p14="http://schemas.microsoft.com/office/powerpoint/2010/main" val="2321738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99D5-4100-703E-410D-F92040EE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Advances In Diagnostic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438F1-41A6-AF56-CE3D-3861C7536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Microfluidic Sperm Sorting</a:t>
            </a:r>
          </a:p>
          <a:p>
            <a:r>
              <a:rPr lang="en-US" dirty="0"/>
              <a:t>Replaces centrifugation-based methods in IUI/IVF labs</a:t>
            </a:r>
          </a:p>
          <a:p>
            <a:r>
              <a:rPr lang="en-US" dirty="0"/>
              <a:t>Enhances selection of motile, morphologically normal sperm</a:t>
            </a:r>
          </a:p>
          <a:p>
            <a:r>
              <a:rPr lang="en-US" dirty="0"/>
              <a:t>Less DNA fragmentation → higher success in ART</a:t>
            </a:r>
          </a:p>
          <a:p>
            <a:pPr marL="0" indent="0">
              <a:buNone/>
            </a:pPr>
            <a:r>
              <a:rPr lang="en-US" b="1" dirty="0"/>
              <a:t>2. Endometrial Receptivity Analysis (ERA Test)</a:t>
            </a:r>
          </a:p>
          <a:p>
            <a:r>
              <a:rPr lang="en-US" dirty="0"/>
              <a:t>Genetic test that determines optimal window of implantation</a:t>
            </a:r>
          </a:p>
          <a:p>
            <a:r>
              <a:rPr lang="en-US" dirty="0"/>
              <a:t>Tailors embryo transfer timing in IVF → personalized embryo transfer (</a:t>
            </a:r>
            <a:r>
              <a:rPr lang="en-US" dirty="0" err="1"/>
              <a:t>pET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33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9147-C0B3-E36B-ADDE-34F4CCE3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E423-D3F2-2E51-7EB3-D75A51A2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684"/>
            <a:ext cx="10515600" cy="5535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Non-Invasive Prenatal Testing (NIPT) with AI Algorithms</a:t>
            </a:r>
          </a:p>
          <a:p>
            <a:r>
              <a:rPr lang="en-US" dirty="0"/>
              <a:t>Uses cell-free fetal DNA from maternal blood</a:t>
            </a:r>
          </a:p>
          <a:p>
            <a:r>
              <a:rPr lang="en-US" dirty="0"/>
              <a:t>Detects </a:t>
            </a:r>
            <a:r>
              <a:rPr lang="en-US" dirty="0" err="1"/>
              <a:t>trisomies</a:t>
            </a:r>
            <a:r>
              <a:rPr lang="en-US" dirty="0"/>
              <a:t> and microdeletions as early as 9–10 weeks</a:t>
            </a:r>
          </a:p>
          <a:p>
            <a:r>
              <a:rPr lang="en-US" dirty="0"/>
              <a:t>Now enhanced with machine learning for risk stratification</a:t>
            </a:r>
          </a:p>
          <a:p>
            <a:pPr marL="0" indent="0">
              <a:buNone/>
            </a:pPr>
            <a:r>
              <a:rPr lang="en-US" b="1" dirty="0"/>
              <a:t>4. Artificial Intelligence in Ultrasound Interpretation</a:t>
            </a:r>
          </a:p>
          <a:p>
            <a:r>
              <a:rPr lang="en-US" dirty="0"/>
              <a:t>AI-powered transvaginal scans to detect PCOS, adenomyosis, ovarian reserve</a:t>
            </a:r>
          </a:p>
          <a:p>
            <a:r>
              <a:rPr lang="en-US" dirty="0"/>
              <a:t>Pattern recognition for anomaly scans and tumor classification</a:t>
            </a:r>
          </a:p>
          <a:p>
            <a:pPr marL="0" indent="0">
              <a:buNone/>
            </a:pPr>
            <a:r>
              <a:rPr lang="en-US" b="1" dirty="0"/>
              <a:t>5. Digital Colposcopy + AI (Cervical Cancer Screening)</a:t>
            </a:r>
          </a:p>
          <a:p>
            <a:r>
              <a:rPr lang="en-US" dirty="0"/>
              <a:t>Smartphone-based high-res colposcopy + automated VIA/VILI interpretation</a:t>
            </a:r>
          </a:p>
          <a:p>
            <a:r>
              <a:rPr lang="en-US" dirty="0"/>
              <a:t>Increases cervical cancer detection in low-resource settings (like rural India)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48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2E8C-E637-A2AF-B01E-7CC33AB7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Therapeutic and Interventional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95492-3EA2-9A85-369E-6DA4B2C79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Uterine Transplantation (Live Donor)</a:t>
            </a:r>
          </a:p>
          <a:p>
            <a:r>
              <a:rPr lang="en-US" dirty="0"/>
              <a:t>Now considered for women with </a:t>
            </a:r>
            <a:r>
              <a:rPr lang="en-US" b="1" dirty="0"/>
              <a:t>Müllerian agenesis / Asherman’s syndrome</a:t>
            </a:r>
            <a:endParaRPr lang="en-US" dirty="0"/>
          </a:p>
          <a:p>
            <a:r>
              <a:rPr lang="en-US" dirty="0"/>
              <a:t>Trials in India and abroad for ethical feasibility and outcomes</a:t>
            </a:r>
          </a:p>
          <a:p>
            <a:r>
              <a:rPr lang="en-US" dirty="0"/>
              <a:t>First successful Indian baby born post-uterine transplant: </a:t>
            </a:r>
            <a:r>
              <a:rPr lang="en-US" b="1" dirty="0"/>
              <a:t>Pune, 2017</a:t>
            </a:r>
            <a:r>
              <a:rPr lang="en-US" dirty="0"/>
              <a:t>, followed by newer refinements</a:t>
            </a:r>
          </a:p>
          <a:p>
            <a:pPr marL="0" indent="0">
              <a:buNone/>
            </a:pPr>
            <a:r>
              <a:rPr lang="en-US" b="1" dirty="0"/>
              <a:t>2. CRISPR/Cas9 for Infertility Research</a:t>
            </a:r>
          </a:p>
          <a:p>
            <a:r>
              <a:rPr lang="en-US" dirty="0"/>
              <a:t>Gene-editing tools applied in </a:t>
            </a:r>
            <a:r>
              <a:rPr lang="en-US" b="1" dirty="0"/>
              <a:t>germline mutation correction</a:t>
            </a:r>
            <a:endParaRPr lang="en-US" dirty="0"/>
          </a:p>
          <a:p>
            <a:r>
              <a:rPr lang="en-US" dirty="0"/>
              <a:t>Focus on genes causing </a:t>
            </a:r>
            <a:r>
              <a:rPr lang="en-US" b="1" dirty="0"/>
              <a:t>azoospermia, ovarian insufficiency</a:t>
            </a:r>
            <a:endParaRPr lang="en-US" dirty="0"/>
          </a:p>
          <a:p>
            <a:r>
              <a:rPr lang="en-US" dirty="0"/>
              <a:t>Still experimental, but breakthroughs in mice and cell lines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02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09FD7-4EB9-C423-5761-3881A516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1073-E9D8-C675-3E88-008875BF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D3F9-2863-E388-D2CE-D58F7895F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684"/>
            <a:ext cx="10515600" cy="55352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3. Platelet-Rich Plasma (PRP) for Ovarian Rejuvenation</a:t>
            </a:r>
          </a:p>
          <a:p>
            <a:r>
              <a:rPr lang="en-US" dirty="0"/>
              <a:t>PRP injected into ovaries in women with premature ovarian failure (POI)</a:t>
            </a:r>
          </a:p>
          <a:p>
            <a:r>
              <a:rPr lang="en-US" dirty="0"/>
              <a:t>Reported cases of resumed menstruation and egg retrieval in some women</a:t>
            </a:r>
          </a:p>
          <a:p>
            <a:pPr marL="0" indent="0">
              <a:buNone/>
            </a:pPr>
            <a:r>
              <a:rPr lang="en-US" b="1" dirty="0"/>
              <a:t>4. Robotic-Assisted Laparoscopic Surgery</a:t>
            </a:r>
          </a:p>
          <a:p>
            <a:r>
              <a:rPr lang="en-US" dirty="0"/>
              <a:t>Used for deep endometriosis, fibroid removal, myomectomy</a:t>
            </a:r>
          </a:p>
          <a:p>
            <a:r>
              <a:rPr lang="en-US" dirty="0"/>
              <a:t>Increased precision with minimal invasiveness and better fertility outcomes</a:t>
            </a:r>
          </a:p>
          <a:p>
            <a:pPr marL="0" indent="0">
              <a:buNone/>
            </a:pPr>
            <a:r>
              <a:rPr lang="en-US" b="1" dirty="0"/>
              <a:t>5. Organoid Models of Uterus, Ovary, and Testis</a:t>
            </a:r>
          </a:p>
          <a:p>
            <a:r>
              <a:rPr lang="en-US" dirty="0"/>
              <a:t>Lab-grown miniature organs mimicking real tissue</a:t>
            </a:r>
          </a:p>
          <a:p>
            <a:r>
              <a:rPr lang="en-US" dirty="0"/>
              <a:t>For drug testing, reproductive cancer research, and stem cell therapy development</a:t>
            </a:r>
          </a:p>
        </p:txBody>
      </p:sp>
    </p:spTree>
    <p:extLst>
      <p:ext uri="{BB962C8B-B14F-4D97-AF65-F5344CB8AC3E}">
        <p14:creationId xmlns:p14="http://schemas.microsoft.com/office/powerpoint/2010/main" val="1668127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B2CE-BD4B-E033-0213-775A5606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Reproductive Technology (ART)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88933-AC15-3737-74C9-9817F12CB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Time-Lapse Embryo Imaging (</a:t>
            </a:r>
            <a:r>
              <a:rPr lang="en-US" b="1" dirty="0" err="1"/>
              <a:t>EmbryoScope</a:t>
            </a:r>
            <a:r>
              <a:rPr lang="en-US" b="1" dirty="0"/>
              <a:t>™)</a:t>
            </a:r>
          </a:p>
          <a:p>
            <a:r>
              <a:rPr lang="en-US" dirty="0"/>
              <a:t>Monitors embryo development in real-time</a:t>
            </a:r>
          </a:p>
          <a:p>
            <a:r>
              <a:rPr lang="en-US" dirty="0"/>
              <a:t>Uses AI to predict </a:t>
            </a:r>
            <a:r>
              <a:rPr lang="en-US" b="1" dirty="0"/>
              <a:t>embryo viability</a:t>
            </a:r>
            <a:r>
              <a:rPr lang="en-US" dirty="0"/>
              <a:t> and improves IVF success rate</a:t>
            </a:r>
          </a:p>
          <a:p>
            <a:pPr marL="0" indent="0">
              <a:buNone/>
            </a:pPr>
            <a:r>
              <a:rPr lang="en-US" b="1" dirty="0"/>
              <a:t>2. 3D Printed Ovaries (Bioengineered Scaffolds)</a:t>
            </a:r>
          </a:p>
          <a:p>
            <a:r>
              <a:rPr lang="en-US" dirty="0"/>
              <a:t>Animal studies show potential of 3D-printed scaffolds seeded with follicles</a:t>
            </a:r>
          </a:p>
          <a:p>
            <a:r>
              <a:rPr lang="en-US" dirty="0"/>
              <a:t>Could help preserve fertility in cancer survivors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0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B2D5-C0D0-CB8A-2B9C-A3E94D32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9985-65E3-679E-1583-CB9A6196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C08D-B42A-0BE7-0DE7-6FFA22C51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1895"/>
            <a:ext cx="10515600" cy="54550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In Vitro Gametogenesis (IVG)</a:t>
            </a:r>
          </a:p>
          <a:p>
            <a:r>
              <a:rPr lang="en-US" dirty="0"/>
              <a:t>Deriving </a:t>
            </a:r>
            <a:r>
              <a:rPr lang="en-US" b="1" dirty="0"/>
              <a:t>sperm and eggs from iPSCs (induced pluripotent stem cells)</a:t>
            </a:r>
            <a:endParaRPr lang="en-US" dirty="0"/>
          </a:p>
          <a:p>
            <a:r>
              <a:rPr lang="en-US" dirty="0"/>
              <a:t>Future hope for </a:t>
            </a:r>
            <a:r>
              <a:rPr lang="en-US" b="1" dirty="0"/>
              <a:t>infertile and same-sex couples</a:t>
            </a:r>
            <a:r>
              <a:rPr lang="en-US" dirty="0"/>
              <a:t>, still in experimental stages</a:t>
            </a:r>
          </a:p>
          <a:p>
            <a:pPr marL="0" indent="0">
              <a:buNone/>
            </a:pPr>
            <a:r>
              <a:rPr lang="en-US" b="1" dirty="0"/>
              <a:t>4. Wearable Fertility Trackers</a:t>
            </a:r>
          </a:p>
          <a:p>
            <a:r>
              <a:rPr lang="en-US" dirty="0"/>
              <a:t>Devices measuring </a:t>
            </a:r>
            <a:r>
              <a:rPr lang="en-US" b="1" dirty="0"/>
              <a:t>temperature, heart rate variability, LH</a:t>
            </a:r>
            <a:endParaRPr lang="en-US" dirty="0"/>
          </a:p>
          <a:p>
            <a:r>
              <a:rPr lang="en-US" dirty="0"/>
              <a:t>Uses AI to predict ovulation and menstrual phase with higher accuracy</a:t>
            </a:r>
          </a:p>
        </p:txBody>
      </p:sp>
    </p:spTree>
    <p:extLst>
      <p:ext uri="{BB962C8B-B14F-4D97-AF65-F5344CB8AC3E}">
        <p14:creationId xmlns:p14="http://schemas.microsoft.com/office/powerpoint/2010/main" val="2052123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2CE07-BAD3-D259-D16F-9ECBE5C1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Preventive &amp; Genomic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C9DF5-2CC1-44F8-2D61-30820DBA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Preimplantation Genetic Testing (PGT-A / PGT-M / PGT-SR)</a:t>
            </a:r>
          </a:p>
          <a:p>
            <a:r>
              <a:rPr lang="en-US" dirty="0"/>
              <a:t>Detects </a:t>
            </a:r>
            <a:r>
              <a:rPr lang="en-US" b="1" dirty="0"/>
              <a:t>aneuploidy, monogenic disorders</a:t>
            </a:r>
            <a:r>
              <a:rPr lang="en-US" dirty="0"/>
              <a:t>, and structural rearrangements</a:t>
            </a:r>
          </a:p>
          <a:p>
            <a:r>
              <a:rPr lang="en-US" dirty="0"/>
              <a:t>Increasing IVF success by ensuring healthy embryo transfer</a:t>
            </a:r>
          </a:p>
          <a:p>
            <a:pPr marL="0" indent="0">
              <a:buNone/>
            </a:pPr>
            <a:r>
              <a:rPr lang="en-US" b="1" dirty="0"/>
              <a:t>2. Fertility Preservation in Transgender Individuals</a:t>
            </a:r>
          </a:p>
          <a:p>
            <a:r>
              <a:rPr lang="en-US" dirty="0"/>
              <a:t>Oocyte, sperm, and testicular/ovarian tissue cryopreservation before hormone therapy</a:t>
            </a:r>
          </a:p>
          <a:p>
            <a:r>
              <a:rPr lang="en-US" dirty="0"/>
              <a:t>Now more streamlined and ethically supported across clinics in India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691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A7A22-4833-EBFA-5FEE-406D15FA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BD174-1969-6E0E-4B42-981E87731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Menstrual blood stem cell (</a:t>
            </a:r>
            <a:r>
              <a:rPr lang="en-US" dirty="0" err="1"/>
              <a:t>MenSC</a:t>
            </a:r>
            <a:r>
              <a:rPr lang="en-US" dirty="0"/>
              <a:t>) research – for endometrial regeneration</a:t>
            </a:r>
          </a:p>
          <a:p>
            <a:r>
              <a:rPr lang="en-US" dirty="0"/>
              <a:t>Nano-formulations for hormone delivery (e.g., estrogen/progesterone nanoparticles)</a:t>
            </a:r>
          </a:p>
          <a:p>
            <a:r>
              <a:rPr lang="en-US" dirty="0"/>
              <a:t>Virtual reality and gamification in antenatal counseling and reproductive education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235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898E-4CDF-DF66-E577-E862424D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020B-EE52-1F40-2959-78A0CEE4F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578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1554</Words>
  <Application>Microsoft Office PowerPoint</Application>
  <PresentationFormat>Widescreen</PresentationFormat>
  <Paragraphs>233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Office Theme</vt:lpstr>
      <vt:lpstr>Introduction to Reproduction</vt:lpstr>
      <vt:lpstr>Contents</vt:lpstr>
      <vt:lpstr>Case Scenarios</vt:lpstr>
      <vt:lpstr>Case 1</vt:lpstr>
      <vt:lpstr>A 17-year-old girl, Priya from Bhopal, visits the gynecology OPD with her mother due to absent menstruation.</vt:lpstr>
      <vt:lpstr> </vt:lpstr>
      <vt:lpstr>Case 2</vt:lpstr>
      <vt:lpstr>A 16-year-old schoolgirl, Meenakshi from Chennai, presents with no onset of periods and short stature.</vt:lpstr>
      <vt:lpstr> </vt:lpstr>
      <vt:lpstr>Case 3</vt:lpstr>
      <vt:lpstr>An IT professional couple from Hyderabad, married for 4 years, unable to conceive.</vt:lpstr>
      <vt:lpstr> </vt:lpstr>
      <vt:lpstr>Case 4</vt:lpstr>
      <vt:lpstr>Rani, 25-year-old mother from rural UP, delivered her second child 6 weeks ago, now visiting for family planning advice.</vt:lpstr>
      <vt:lpstr> </vt:lpstr>
      <vt:lpstr>Case 5</vt:lpstr>
      <vt:lpstr>Mr. Rakesh, a 32-year-old software engineer from Pune, presents to the fertility clinic with his wife after 2 years of unprotected intercourse with no conception.</vt:lpstr>
      <vt:lpstr> </vt:lpstr>
      <vt:lpstr> </vt:lpstr>
      <vt:lpstr>Male and Female Reproductive Systems</vt:lpstr>
      <vt:lpstr> </vt:lpstr>
      <vt:lpstr>PowerPoint Presentation</vt:lpstr>
      <vt:lpstr> </vt:lpstr>
      <vt:lpstr>Techniques</vt:lpstr>
      <vt:lpstr>Diagnostic &amp; Imaging Techniques</vt:lpstr>
      <vt:lpstr>Endoscopic Techniques</vt:lpstr>
      <vt:lpstr>Interventional &amp; Therapeutic Techniques</vt:lpstr>
      <vt:lpstr>Assisted Reproduction Techniques (ART)</vt:lpstr>
      <vt:lpstr>Genetic &amp; Hormonal Tests</vt:lpstr>
      <vt:lpstr>Recent Advances</vt:lpstr>
      <vt:lpstr>Advances In Diagnostic Technologies</vt:lpstr>
      <vt:lpstr> </vt:lpstr>
      <vt:lpstr>Therapeutic and Interventional Advances</vt:lpstr>
      <vt:lpstr> </vt:lpstr>
      <vt:lpstr>Artificial Reproductive Technology (ART) Innovations</vt:lpstr>
      <vt:lpstr> </vt:lpstr>
      <vt:lpstr>Preventive &amp; Genomic Tools</vt:lpstr>
      <vt:lpstr>Other trends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Akhil Raj Kumar Yerra</dc:creator>
  <cp:lastModifiedBy>Vishnu Akhil Raj Kumar Yerra</cp:lastModifiedBy>
  <cp:revision>20</cp:revision>
  <dcterms:created xsi:type="dcterms:W3CDTF">2025-06-17T04:17:09Z</dcterms:created>
  <dcterms:modified xsi:type="dcterms:W3CDTF">2025-06-18T02:20:12Z</dcterms:modified>
</cp:coreProperties>
</file>