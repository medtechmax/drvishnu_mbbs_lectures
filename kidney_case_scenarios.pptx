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3BAC-B365-DF4D-FB04-5BD3B2129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A6088-D0D4-163B-61DB-3D10359EB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21684-954A-5B3F-8361-CFED7BA7A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C9684-E39B-F428-B4B6-72CF7FED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ABDD9-AF41-636F-42AB-83C6D22D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3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BA5E-16F6-BBF7-5283-B69324C1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B8649-948C-D88C-670E-B2D6F731F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44F21-9395-B4E2-E5EE-0F04941D8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072B5-CE02-2A93-449C-66B43E1E8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72E8B-C258-1357-2AE8-6894134F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75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68CB-BFA8-4975-B662-7B9A64F3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62373-67A4-840B-1F20-E26366433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93CDB-92AF-A374-1485-5D0083AD9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47DBE-8526-21C3-8E9C-2339E764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8132-0937-FB8A-60B7-699530DC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7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FD686-1316-281B-D807-416950DD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564C5-32D5-1193-3C1B-1ED2CB936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6BCEA-A22C-5A64-D3DE-78CB5B52B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34692-3753-98B8-B67E-E3AC4770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4D882-DB13-5D96-B6EC-8C953217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D1BCD-3199-B37A-896A-0FF79042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7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39154-F6F3-D0C1-2160-DCE5F461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D1D4E-AFBC-CA73-EDFD-A81B00A93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B975A-9907-19A8-06C0-E6DB17A24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8F372-EC97-3392-04CC-7F35D4A77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7529F-F0EF-20EF-7D72-0ABB7B8D6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D8B66-2BC1-F728-61DF-5F257E102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5935F-EBB3-866B-3C16-6BDE3EF3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A41118-34B4-3FA3-BBE9-CBBF6EFF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7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AEE3-48F8-9BB0-CC30-66878B4F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BA6DE-8B2F-EE6E-4D8A-F27AE56E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122C7-AB33-618C-6F5E-39B33F1E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20B4E-5469-6694-62FA-71340463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3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614C7-7961-0AB8-F540-9112A741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F91F66-A982-884D-2304-BB88CFBA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0CD01-83C7-B1B8-4D48-733113DD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4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C08C-4D84-DA64-26B5-FC7548DB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843B-7326-9228-D3A6-2F0B4C83D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9A3CB-9D84-D3B1-6B47-6F1B273AB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706C1-1C6E-4867-4D4C-BF12CEE7B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F791C-6FFF-1C95-2A85-63230712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31596-A056-5087-4049-7F587288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1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F6E2-C28A-3889-A939-207B85F66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906F3E-CCF5-0FBD-1A3F-C1BBA396B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A5649-7789-E8D3-976B-FFF5E4575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101-F5D5-B00B-3175-922A56A57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069C5-CD50-C787-5B8C-9D7654D3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1FD5F-FE73-3210-B18A-E0CAC1A1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29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DC03-8A63-B468-4B69-141190FA2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4AA15-4E3F-3ACD-A26C-3CFEAC8FF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1AA4C-9EC7-8BDD-F165-56246C1C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10097-9E9E-960B-1739-458B2CCE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2AA9B-4FEB-A2C7-7CF5-09B9D16E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6D25CA-3C93-00FA-DA7B-A43CAD21A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D76A2-F8DF-20F1-4FF3-423E73248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C1EC9-1D78-8C6C-9D0C-34EFA7A77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096CD-27C9-D205-717E-1EBA92A1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842B0-0C36-7C25-1BB1-36449CD9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45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83112-00EF-EDB6-86F9-17280952F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5E6D1-6ABB-70B5-9907-DDFC0023E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49B15-7B19-9167-A484-435DB3507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4B4A5-A18A-4B3E-A51F-9B1BA30B0FB2}" type="datetimeFigureOut">
              <a:rPr lang="en-US" smtClean="0"/>
              <a:t>04-Apr-25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BC973-5709-B6C0-64E8-F1AB52928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5160F-D972-4CB6-113B-C9314C921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337C2-076E-4601-9474-EDD0B405A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5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FC46-FDE6-7FEF-1909-1FB5D12B60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Case based scenarios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81FE4-66BC-4ADE-D7FC-A4EED19A9C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Excretory System</a:t>
            </a:r>
          </a:p>
          <a:p>
            <a:r>
              <a:rPr lang="en-US" dirty="0"/>
              <a:t>04-04-2025</a:t>
            </a:r>
          </a:p>
          <a:p>
            <a:r>
              <a:rPr lang="en-US" dirty="0"/>
              <a:t>Dr. Yerra Vishnu Akhil Raj Kumar</a:t>
            </a:r>
          </a:p>
          <a:p>
            <a:r>
              <a:rPr lang="en-US" dirty="0"/>
              <a:t>Senior Resident, AIIMS </a:t>
            </a:r>
            <a:r>
              <a:rPr lang="en-US" dirty="0" err="1"/>
              <a:t>BibiNagar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702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579E-8B61-63DF-AF91-C68C8F54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5244"/>
            <a:ext cx="10515600" cy="3872414"/>
          </a:xfrm>
        </p:spPr>
        <p:txBody>
          <a:bodyPr>
            <a:normAutofit/>
          </a:bodyPr>
          <a:lstStyle/>
          <a:p>
            <a:r>
              <a:rPr lang="en-US" sz="3200" dirty="0"/>
              <a:t>A 21-year-old college student complains of frequent urination, including multiple times at night, and excessive thirst. He drinks more than 6 liters of water a day. Blood glucose is normal. Urine osmolality is low, and serum osmolality is high.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1B3B6-DBE0-3C5B-0496-7B696FA97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722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F74C-F237-8EB6-CD65-859B49BE6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09" y="1345512"/>
            <a:ext cx="10515600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FD4520-5F85-67AC-9827-C14E12EDE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9982" y="1957218"/>
            <a:ext cx="8576194" cy="29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hormones regulate water reabsorption in the nephron?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does ADH function, and where does it act in the nephron?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Differentiate between central and nephrogenic diabetes insipidus.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test would you order to distinguish between these?</a:t>
            </a:r>
          </a:p>
        </p:txBody>
      </p:sp>
    </p:spTree>
    <p:extLst>
      <p:ext uri="{BB962C8B-B14F-4D97-AF65-F5344CB8AC3E}">
        <p14:creationId xmlns:p14="http://schemas.microsoft.com/office/powerpoint/2010/main" val="2276993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E26B-C695-F1A6-7398-49350AFF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51" y="1989056"/>
            <a:ext cx="10515600" cy="2341137"/>
          </a:xfrm>
        </p:spPr>
        <p:txBody>
          <a:bodyPr>
            <a:normAutofit/>
          </a:bodyPr>
          <a:lstStyle/>
          <a:p>
            <a:r>
              <a:rPr lang="en-US" sz="3200" dirty="0"/>
              <a:t>A 20-year-old girl has been vomiting for 3 days due to gastritis. She presents with muscle cramps and generalized weakness. ABG shows pH 7.49, HCO₃⁻ 34 mmol/L, and </a:t>
            </a:r>
            <a:r>
              <a:rPr lang="en-US" sz="3200" dirty="0" err="1"/>
              <a:t>PaCO</a:t>
            </a:r>
            <a:r>
              <a:rPr lang="en-US" sz="3200" dirty="0"/>
              <a:t>₂ 48 mmHg.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038B0-9A5D-A937-590B-9D9CEE854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4627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0845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F612-5CC3-3351-D0B9-3C4740FC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4C5546-F7E1-82B7-9309-92097272A2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2764"/>
            <a:ext cx="8358378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type of acid-base disturbance is this?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does the kidney normally excrete or conserve bicarbonate?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role do intercalated cells in the collecting duct play?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renal compensations occur in chronic vomiting?</a:t>
            </a:r>
          </a:p>
        </p:txBody>
      </p:sp>
    </p:spTree>
    <p:extLst>
      <p:ext uri="{BB962C8B-B14F-4D97-AF65-F5344CB8AC3E}">
        <p14:creationId xmlns:p14="http://schemas.microsoft.com/office/powerpoint/2010/main" val="342756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B0F33-4322-04FD-8621-F86CF529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2637172"/>
          </a:xfrm>
        </p:spPr>
        <p:txBody>
          <a:bodyPr>
            <a:normAutofit/>
          </a:bodyPr>
          <a:lstStyle/>
          <a:p>
            <a:r>
              <a:rPr lang="en-US" sz="3200" dirty="0"/>
              <a:t>A 5-year-old boy presents with periorbital swelling and pitting edema in the lower limbs. Urinalysis shows 4+ protein, but no RBCs. Serum albumin is low; cholesterol is elevated.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835ED-9E47-19CF-3D3B-D425F79B6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851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31FF-B142-7C82-84E8-C07AB1D7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1A64A2-5A64-DEAF-2B05-9A605F182C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3076"/>
            <a:ext cx="8664038" cy="29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does protein loss affect plasma oncotic pressure?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drives fluid into the interstitial space in nephrotic syndrome?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does RAAS activation contribute to worsening edema?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Where in the nephron is the damage most likely located?</a:t>
            </a:r>
          </a:p>
        </p:txBody>
      </p:sp>
    </p:spTree>
    <p:extLst>
      <p:ext uri="{BB962C8B-B14F-4D97-AF65-F5344CB8AC3E}">
        <p14:creationId xmlns:p14="http://schemas.microsoft.com/office/powerpoint/2010/main" val="377029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1336-4E3A-531A-B9D8-C9712AF0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1684423"/>
            <a:ext cx="10515600" cy="2637172"/>
          </a:xfrm>
        </p:spPr>
        <p:txBody>
          <a:bodyPr>
            <a:normAutofit/>
          </a:bodyPr>
          <a:lstStyle/>
          <a:p>
            <a:r>
              <a:rPr lang="en-US" sz="3200" dirty="0"/>
              <a:t>A 35-year-old male in a road traffic accident presents with low BP, cold extremities, and oliguria. Labs show rising creatinine and BUN. Urine Na⁺ is low; </a:t>
            </a:r>
            <a:r>
              <a:rPr lang="en-US" sz="3200" dirty="0" err="1"/>
              <a:t>FENa</a:t>
            </a:r>
            <a:r>
              <a:rPr lang="en-US" sz="3200" dirty="0"/>
              <a:t> is &lt;1%.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D2C77-6196-8A74-95D9-D0BA87779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431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EF5D-798A-E22D-0905-04891DBA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E86C98-48A4-ADBE-ECDD-C52887E4F5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2468" y="1690688"/>
            <a:ext cx="7677102" cy="29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are the types of AKI (pre-renal, intrinsic, post-renal)?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physiological parameters help identify pre-renal AKI?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happens to GFR and RBF in hypovolemia?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Describe autoregulation and tubulo-glomerular feedback.</a:t>
            </a:r>
          </a:p>
        </p:txBody>
      </p:sp>
    </p:spTree>
    <p:extLst>
      <p:ext uri="{BB962C8B-B14F-4D97-AF65-F5344CB8AC3E}">
        <p14:creationId xmlns:p14="http://schemas.microsoft.com/office/powerpoint/2010/main" val="3662297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4DA9-D647-58FA-CA92-612E4292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5694"/>
            <a:ext cx="10515600" cy="2566611"/>
          </a:xfrm>
        </p:spPr>
        <p:txBody>
          <a:bodyPr>
            <a:normAutofit/>
          </a:bodyPr>
          <a:lstStyle/>
          <a:p>
            <a:r>
              <a:rPr lang="en-US" sz="3200" dirty="0"/>
              <a:t>A 55-year-old male has uncontrolled hypertension. Renal Doppler shows stenosis of the right renal artery. His left kidney appears normal. Plasma renin activity is elevated.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352E-404C-7D34-011A-6B929F718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1716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3F96-059A-ADD5-D602-CF56AD4C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BDC575-5395-A4FC-B377-E75F189E8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267334" cy="29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does decreased perfusion affect renin secretion?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is the role of JG cells?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does RAAS increase BP?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does only one kidney release more renin?</a:t>
            </a:r>
          </a:p>
        </p:txBody>
      </p:sp>
    </p:spTree>
    <p:extLst>
      <p:ext uri="{BB962C8B-B14F-4D97-AF65-F5344CB8AC3E}">
        <p14:creationId xmlns:p14="http://schemas.microsoft.com/office/powerpoint/2010/main" val="3678566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27B1-4B05-CBF5-DA9F-2354B093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6841"/>
            <a:ext cx="10515600" cy="2604318"/>
          </a:xfrm>
        </p:spPr>
        <p:txBody>
          <a:bodyPr>
            <a:normAutofit/>
          </a:bodyPr>
          <a:lstStyle/>
          <a:p>
            <a:r>
              <a:rPr lang="en-US" sz="3200" dirty="0"/>
              <a:t>A 23-year-old female is using loop diuretics to lose weight. She presents with fatigue, muscle cramps, and postural dizziness. Labs reveal hypokalemia and mild metabolic alkalosis.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11E-00B8-6D24-11FC-707BCE430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0139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1000-5F7C-C717-722B-4065EE4E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6959B5-894D-F970-72F1-E45BE7D5F7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614" y="1957218"/>
            <a:ext cx="7958845" cy="29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segment of the nephron do loop diuretics act on?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Explain electrolyte handling in the TAL (thick ascending limb).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does K⁺ get depleted?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does metabolic alkalosis occur here?</a:t>
            </a:r>
          </a:p>
        </p:txBody>
      </p:sp>
    </p:spTree>
    <p:extLst>
      <p:ext uri="{BB962C8B-B14F-4D97-AF65-F5344CB8AC3E}">
        <p14:creationId xmlns:p14="http://schemas.microsoft.com/office/powerpoint/2010/main" val="672005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EA9E-B23C-F31D-1A6E-8BA3BFC9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6213"/>
            <a:ext cx="10515600" cy="2524877"/>
          </a:xfrm>
        </p:spPr>
        <p:txBody>
          <a:bodyPr>
            <a:normAutofit/>
          </a:bodyPr>
          <a:lstStyle/>
          <a:p>
            <a:r>
              <a:rPr lang="en-US" sz="3200" dirty="0"/>
              <a:t>A 70-year-old man with a history of chronic heart failure presents with leg swelling and reduced urine output. He’s on furosemide. His creatinine is rising, and serum Na⁺ is low.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1C8F-3756-CAE5-2CF2-E7FE93F46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5928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C022-B898-BB47-3206-C6EBCABB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FAED01-8D14-77EA-C23C-0E3EAD904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0748" y="1841356"/>
            <a:ext cx="7765267" cy="29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does low cardiac output affect renal perfusion?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compensatory mechanisms are activated?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is there fluid retention despite edema?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 loop diuretics help, and what are their side effects?</a:t>
            </a:r>
          </a:p>
        </p:txBody>
      </p:sp>
    </p:spTree>
    <p:extLst>
      <p:ext uri="{BB962C8B-B14F-4D97-AF65-F5344CB8AC3E}">
        <p14:creationId xmlns:p14="http://schemas.microsoft.com/office/powerpoint/2010/main" val="446689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B3329-094F-86F0-338C-3DB53F82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50ED5-4846-B350-4AED-3958E2845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40178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544</Words>
  <Application>Microsoft Office PowerPoint</Application>
  <PresentationFormat>Widescreen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Case based scenarios</vt:lpstr>
      <vt:lpstr>A 21-year-old college student complains of frequent urination, including multiple times at night, and excessive thirst. He drinks more than 6 liters of water a day. Blood glucose is normal. Urine osmolality is low, and serum osmolality is high.</vt:lpstr>
      <vt:lpstr> </vt:lpstr>
      <vt:lpstr>A 20-year-old girl has been vomiting for 3 days due to gastritis. She presents with muscle cramps and generalized weakness. ABG shows pH 7.49, HCO₃⁻ 34 mmol/L, and PaCO₂ 48 mmHg.</vt:lpstr>
      <vt:lpstr> </vt:lpstr>
      <vt:lpstr>A 5-year-old boy presents with periorbital swelling and pitting edema in the lower limbs. Urinalysis shows 4+ protein, but no RBCs. Serum albumin is low; cholesterol is elevated.</vt:lpstr>
      <vt:lpstr> </vt:lpstr>
      <vt:lpstr>A 35-year-old male in a road traffic accident presents with low BP, cold extremities, and oliguria. Labs show rising creatinine and BUN. Urine Na⁺ is low; FENa is &lt;1%.</vt:lpstr>
      <vt:lpstr> </vt:lpstr>
      <vt:lpstr>A 55-year-old male has uncontrolled hypertension. Renal Doppler shows stenosis of the right renal artery. His left kidney appears normal. Plasma renin activity is elevated.</vt:lpstr>
      <vt:lpstr> </vt:lpstr>
      <vt:lpstr>A 23-year-old female is using loop diuretics to lose weight. She presents with fatigue, muscle cramps, and postural dizziness. Labs reveal hypokalemia and mild metabolic alkalosis.</vt:lpstr>
      <vt:lpstr> </vt:lpstr>
      <vt:lpstr>A 70-year-old man with a history of chronic heart failure presents with leg swelling and reduced urine output. He’s on furosemide. His creatinine is rising, and serum Na⁺ is low.</vt:lpstr>
      <vt:lpstr>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Akhil Raj Kumar Yerra</dc:creator>
  <cp:lastModifiedBy>Vishnu Akhil Raj Kumar Yerra</cp:lastModifiedBy>
  <cp:revision>25</cp:revision>
  <dcterms:created xsi:type="dcterms:W3CDTF">2025-04-04T08:34:10Z</dcterms:created>
  <dcterms:modified xsi:type="dcterms:W3CDTF">2025-04-04T09:50:24Z</dcterms:modified>
</cp:coreProperties>
</file>