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7" r:id="rId4"/>
    <p:sldId id="259" r:id="rId5"/>
    <p:sldId id="284" r:id="rId6"/>
    <p:sldId id="258" r:id="rId7"/>
    <p:sldId id="285" r:id="rId8"/>
    <p:sldId id="278" r:id="rId9"/>
    <p:sldId id="288" r:id="rId10"/>
    <p:sldId id="286" r:id="rId11"/>
    <p:sldId id="287" r:id="rId12"/>
    <p:sldId id="282" r:id="rId13"/>
    <p:sldId id="281" r:id="rId14"/>
    <p:sldId id="28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75224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946314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8FE413-E71D-4C27-874E-E303A545A875}"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239558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8FE413-E71D-4C27-874E-E303A545A875}"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494470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8FE413-E71D-4C27-874E-E303A545A875}" type="datetimeFigureOut">
              <a:rPr lang="en-US" smtClean="0"/>
              <a:t>23-Sep-25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831349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8FE413-E71D-4C27-874E-E303A545A875}" type="datetimeFigureOut">
              <a:rPr lang="en-US" smtClean="0"/>
              <a:t>23-Sep-25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2588384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8FE413-E71D-4C27-874E-E303A545A875}" type="datetimeFigureOut">
              <a:rPr lang="en-US" smtClean="0"/>
              <a:t>23-Sep-25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564624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8FE413-E71D-4C27-874E-E303A545A875}"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168890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8FE413-E71D-4C27-874E-E303A545A875}" type="datetimeFigureOut">
              <a:rPr lang="en-US" smtClean="0"/>
              <a:t>23-Sep-25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1728149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74466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FE413-E71D-4C27-874E-E303A545A875}" type="datetimeFigureOut">
              <a:rPr lang="en-US" smtClean="0"/>
              <a:t>23-Sep-25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71B62-4AA1-4BFD-B70F-8F7D702887B2}" type="slidenum">
              <a:rPr lang="en-US" smtClean="0"/>
              <a:t>‹#›</a:t>
            </a:fld>
            <a:endParaRPr lang="en-US"/>
          </a:p>
        </p:txBody>
      </p:sp>
    </p:spTree>
    <p:extLst>
      <p:ext uri="{BB962C8B-B14F-4D97-AF65-F5344CB8AC3E}">
        <p14:creationId xmlns:p14="http://schemas.microsoft.com/office/powerpoint/2010/main" val="375466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FE413-E71D-4C27-874E-E303A545A875}" type="datetimeFigureOut">
              <a:rPr lang="en-US" smtClean="0"/>
              <a:t>23-Sep-25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D71B62-4AA1-4BFD-B70F-8F7D702887B2}" type="slidenum">
              <a:rPr lang="en-US" smtClean="0"/>
              <a:t>‹#›</a:t>
            </a:fld>
            <a:endParaRPr lang="en-US"/>
          </a:p>
        </p:txBody>
      </p:sp>
    </p:spTree>
    <p:extLst>
      <p:ext uri="{BB962C8B-B14F-4D97-AF65-F5344CB8AC3E}">
        <p14:creationId xmlns:p14="http://schemas.microsoft.com/office/powerpoint/2010/main" val="12011441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97AD-C529-07CC-2F63-111DBCBFA8B2}"/>
              </a:ext>
            </a:extLst>
          </p:cNvPr>
          <p:cNvSpPr>
            <a:spLocks noGrp="1"/>
          </p:cNvSpPr>
          <p:nvPr>
            <p:ph type="ctrTitle"/>
          </p:nvPr>
        </p:nvSpPr>
        <p:spPr/>
        <p:txBody>
          <a:bodyPr>
            <a:normAutofit/>
          </a:bodyPr>
          <a:lstStyle/>
          <a:p>
            <a:r>
              <a:rPr lang="en-US" sz="4800" b="1" dirty="0"/>
              <a:t>Intercellular Connections and Cell Adhesion Molecules </a:t>
            </a:r>
          </a:p>
        </p:txBody>
      </p:sp>
      <p:sp>
        <p:nvSpPr>
          <p:cNvPr id="3" name="Subtitle 2">
            <a:extLst>
              <a:ext uri="{FF2B5EF4-FFF2-40B4-BE49-F238E27FC236}">
                <a16:creationId xmlns:a16="http://schemas.microsoft.com/office/drawing/2014/main" id="{CE9E8FDC-A207-7976-72B5-0327516B481D}"/>
              </a:ext>
            </a:extLst>
          </p:cNvPr>
          <p:cNvSpPr>
            <a:spLocks noGrp="1"/>
          </p:cNvSpPr>
          <p:nvPr>
            <p:ph type="subTitle" idx="1"/>
          </p:nvPr>
        </p:nvSpPr>
        <p:spPr>
          <a:xfrm>
            <a:off x="1524000" y="3781148"/>
            <a:ext cx="9144000" cy="1780666"/>
          </a:xfrm>
        </p:spPr>
        <p:txBody>
          <a:bodyPr>
            <a:normAutofit fontScale="62500" lnSpcReduction="20000"/>
          </a:bodyPr>
          <a:lstStyle/>
          <a:p>
            <a:r>
              <a:rPr lang="en-US" sz="2500" dirty="0">
                <a:latin typeface="Times New Roman" panose="02020603050405020304" pitchFamily="18" charset="0"/>
                <a:cs typeface="Times New Roman" panose="02020603050405020304" pitchFamily="18" charset="0"/>
              </a:rPr>
              <a:t>Date: 23-09-2025</a:t>
            </a:r>
          </a:p>
          <a:p>
            <a:r>
              <a:rPr lang="en-US" sz="2500" dirty="0">
                <a:latin typeface="Times New Roman" panose="02020603050405020304" pitchFamily="18" charset="0"/>
                <a:cs typeface="Times New Roman" panose="02020603050405020304" pitchFamily="18" charset="0"/>
              </a:rPr>
              <a:t>Dr. Yerra Vishnu Akhil Raj Kumar </a:t>
            </a:r>
          </a:p>
          <a:p>
            <a:r>
              <a:rPr lang="en-US" sz="2500" dirty="0">
                <a:latin typeface="Times New Roman" panose="02020603050405020304" pitchFamily="18" charset="0"/>
                <a:cs typeface="Times New Roman" panose="02020603050405020304" pitchFamily="18" charset="0"/>
              </a:rPr>
              <a:t>Senior Resident, AIIMS </a:t>
            </a:r>
            <a:r>
              <a:rPr lang="en-US" sz="2500" dirty="0" err="1">
                <a:latin typeface="Times New Roman" panose="02020603050405020304" pitchFamily="18" charset="0"/>
                <a:cs typeface="Times New Roman" panose="02020603050405020304" pitchFamily="18" charset="0"/>
              </a:rPr>
              <a:t>Bibinagar</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MBBS- AIIMS Patna</a:t>
            </a:r>
          </a:p>
          <a:p>
            <a:r>
              <a:rPr lang="en-US" sz="2500" dirty="0">
                <a:latin typeface="Times New Roman" panose="02020603050405020304" pitchFamily="18" charset="0"/>
                <a:cs typeface="Times New Roman" panose="02020603050405020304" pitchFamily="18" charset="0"/>
              </a:rPr>
              <a:t>Bio-Design Fellow- IIT Hyderabad</a:t>
            </a:r>
          </a:p>
          <a:p>
            <a:r>
              <a:rPr lang="en-US" sz="2500" dirty="0">
                <a:latin typeface="Times New Roman" panose="02020603050405020304" pitchFamily="18" charset="0"/>
                <a:cs typeface="Times New Roman" panose="02020603050405020304" pitchFamily="18" charset="0"/>
              </a:rPr>
              <a:t>MD Physiology- AIIMS Raipur</a:t>
            </a:r>
          </a:p>
          <a:p>
            <a:endParaRPr lang="en-US" dirty="0"/>
          </a:p>
        </p:txBody>
      </p:sp>
    </p:spTree>
    <p:extLst>
      <p:ext uri="{BB962C8B-B14F-4D97-AF65-F5344CB8AC3E}">
        <p14:creationId xmlns:p14="http://schemas.microsoft.com/office/powerpoint/2010/main" val="187157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B820-9BDD-6C38-D0AE-89A1750DE7EE}"/>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8DFCAC8-48F9-FACF-E62D-F617886B0A52}"/>
              </a:ext>
            </a:extLst>
          </p:cNvPr>
          <p:cNvSpPr>
            <a:spLocks noGrp="1"/>
          </p:cNvSpPr>
          <p:nvPr>
            <p:ph idx="1"/>
          </p:nvPr>
        </p:nvSpPr>
        <p:spPr/>
        <p:txBody>
          <a:bodyPr/>
          <a:lstStyle/>
          <a:p>
            <a:r>
              <a:rPr lang="en-US" dirty="0"/>
              <a:t>Case Scenario</a:t>
            </a:r>
          </a:p>
          <a:p>
            <a:r>
              <a:rPr lang="en-US" dirty="0"/>
              <a:t>History</a:t>
            </a:r>
          </a:p>
          <a:p>
            <a:r>
              <a:rPr lang="en-US" dirty="0"/>
              <a:t>CAMs</a:t>
            </a:r>
          </a:p>
          <a:p>
            <a:r>
              <a:rPr lang="en-US" dirty="0"/>
              <a:t>Intercellular Connections</a:t>
            </a:r>
          </a:p>
          <a:p>
            <a:r>
              <a:rPr lang="en-US" dirty="0"/>
              <a:t>Recent Advances</a:t>
            </a:r>
          </a:p>
          <a:p>
            <a:r>
              <a:rPr lang="en-US" dirty="0"/>
              <a:t>References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6272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FD0CF-E1FB-96A8-3424-BC597DE9D5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B68F71-4371-E214-BF7D-888AE2A286B2}"/>
              </a:ext>
            </a:extLst>
          </p:cNvPr>
          <p:cNvSpPr>
            <a:spLocks noGrp="1"/>
          </p:cNvSpPr>
          <p:nvPr>
            <p:ph type="title"/>
          </p:nvPr>
        </p:nvSpPr>
        <p:spPr>
          <a:xfrm>
            <a:off x="838200" y="2766218"/>
            <a:ext cx="10515600" cy="1325563"/>
          </a:xfrm>
        </p:spPr>
        <p:txBody>
          <a:bodyPr>
            <a:normAutofit/>
          </a:bodyPr>
          <a:lstStyle/>
          <a:p>
            <a:pPr algn="ctr"/>
            <a:r>
              <a:rPr lang="en-US" sz="4800" b="1" dirty="0"/>
              <a:t>Case Scenarios</a:t>
            </a:r>
          </a:p>
        </p:txBody>
      </p:sp>
    </p:spTree>
    <p:extLst>
      <p:ext uri="{BB962C8B-B14F-4D97-AF65-F5344CB8AC3E}">
        <p14:creationId xmlns:p14="http://schemas.microsoft.com/office/powerpoint/2010/main" val="2620365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13EA7C-0D67-4E73-1BC7-BFC46336CCE3}"/>
              </a:ext>
            </a:extLst>
          </p:cNvPr>
          <p:cNvSpPr>
            <a:spLocks noGrp="1"/>
          </p:cNvSpPr>
          <p:nvPr>
            <p:ph type="title"/>
          </p:nvPr>
        </p:nvSpPr>
        <p:spPr/>
        <p:txBody>
          <a:bodyPr/>
          <a:lstStyle/>
          <a:p>
            <a:r>
              <a:rPr lang="en-US" dirty="0"/>
              <a:t> </a:t>
            </a:r>
          </a:p>
        </p:txBody>
      </p:sp>
      <p:sp>
        <p:nvSpPr>
          <p:cNvPr id="4" name="Content Placeholder 3">
            <a:extLst>
              <a:ext uri="{FF2B5EF4-FFF2-40B4-BE49-F238E27FC236}">
                <a16:creationId xmlns:a16="http://schemas.microsoft.com/office/drawing/2014/main" id="{29855A11-2358-3468-653A-97B1F4519E71}"/>
              </a:ext>
            </a:extLst>
          </p:cNvPr>
          <p:cNvSpPr>
            <a:spLocks noGrp="1"/>
          </p:cNvSpPr>
          <p:nvPr>
            <p:ph idx="1"/>
          </p:nvPr>
        </p:nvSpPr>
        <p:spPr>
          <a:xfrm>
            <a:off x="292231" y="292232"/>
            <a:ext cx="11061569" cy="6391372"/>
          </a:xfrm>
        </p:spPr>
        <p:txBody>
          <a:bodyPr>
            <a:normAutofit fontScale="62500" lnSpcReduction="20000"/>
          </a:bodyPr>
          <a:lstStyle/>
          <a:p>
            <a:pPr marL="0" indent="0">
              <a:lnSpc>
                <a:spcPct val="170000"/>
              </a:lnSpc>
              <a:buNone/>
            </a:pPr>
            <a:r>
              <a:rPr lang="en-US" b="1" dirty="0"/>
              <a:t>Case 1: Pemphigus Vulgaris (Desmosome/Cadherin Dysfunction)</a:t>
            </a:r>
          </a:p>
          <a:p>
            <a:pPr marL="0" indent="0">
              <a:lnSpc>
                <a:spcPct val="170000"/>
              </a:lnSpc>
              <a:buNone/>
            </a:pPr>
            <a:r>
              <a:rPr lang="en-US" dirty="0"/>
              <a:t>A 42-year-old school teacher presented with recurrent painful blisters in the mouth for two months, later spreading to involve the chest and axilla. The condition began with painful oral erosions that interfered with food intake, followed by fragile skin blisters that ruptured easily, leaving raw, painful surfaces. She had no relevant family history or drug intake. On examination, she was thin but hemodynamically stable. The oral cavity revealed multiple erythematous erosions, while the skin showed widespread flaccid bullae and erosions in the flexural areas. </a:t>
            </a:r>
            <a:r>
              <a:rPr lang="en-US" dirty="0" err="1"/>
              <a:t>Nikolsky’s</a:t>
            </a:r>
            <a:r>
              <a:rPr lang="en-US" dirty="0"/>
              <a:t> sign was positive, indicating easy separation of the epidermis. Investigations confirmed the diagnosis: a skin biopsy with histopathology showed supra basal acantholysis (loss of intercellular adhesion among keratinocytes). Direct immunofluorescence demonstrated intercellular deposition of IgG and C3 in a characteristic “fishnet” pattern. ELISA for anti-desmoglein 1 and 3 antibodies was positive. These findings confirmed pemphigus vulgaris, an autoimmune disease caused by antibodies against desmoglein, a cadherin protein in desmosomes. This case highlights how disruption of cadherin-mediated adhesion leads to life-threatening blistering disorders.</a:t>
            </a:r>
          </a:p>
        </p:txBody>
      </p:sp>
    </p:spTree>
    <p:extLst>
      <p:ext uri="{BB962C8B-B14F-4D97-AF65-F5344CB8AC3E}">
        <p14:creationId xmlns:p14="http://schemas.microsoft.com/office/powerpoint/2010/main" val="381546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64D0B-E9F2-9667-9C1A-F08BF1D98F7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BC2A267-2FDA-9F4B-0C61-15677D5A091C}"/>
              </a:ext>
            </a:extLst>
          </p:cNvPr>
          <p:cNvSpPr>
            <a:spLocks noGrp="1"/>
          </p:cNvSpPr>
          <p:nvPr>
            <p:ph idx="1"/>
          </p:nvPr>
        </p:nvSpPr>
        <p:spPr>
          <a:xfrm>
            <a:off x="433633" y="365127"/>
            <a:ext cx="10920167" cy="6127746"/>
          </a:xfrm>
        </p:spPr>
        <p:txBody>
          <a:bodyPr>
            <a:normAutofit fontScale="70000" lnSpcReduction="20000"/>
          </a:bodyPr>
          <a:lstStyle/>
          <a:p>
            <a:pPr marL="0" indent="0">
              <a:lnSpc>
                <a:spcPct val="170000"/>
              </a:lnSpc>
              <a:buNone/>
            </a:pPr>
            <a:r>
              <a:rPr lang="en-US" b="1" dirty="0"/>
              <a:t>Case 2: Leukocyte Adhesion Deficiency (Integrin/Selectin Dysfunction)</a:t>
            </a:r>
          </a:p>
          <a:p>
            <a:pPr marL="0" indent="0">
              <a:lnSpc>
                <a:spcPct val="170000"/>
              </a:lnSpc>
              <a:buNone/>
            </a:pPr>
            <a:r>
              <a:rPr lang="en-US" dirty="0"/>
              <a:t>A 7-year-old boy was evaluated for recurrent skin and respiratory infections since infancy. His parents reported that his umbilical cord took more than 30 days to detach and that his wounds healed poorly after minor trauma. Notably, his infections were often associated with fever but never with pus formation. On examination, he appeared malnourished and febrile, with multiple non-healing ulcers on his lower limbs and purulent ear discharge. Chest auscultation revealed bilateral crepitations. Investigations provided further clarity: the complete blood count revealed marked leukocytosis with neutrophilia. Despite high circulating neutrophils, pus formation was absent, suggesting impaired migration into tissues. Flow cytometry of leukocytes demonstrated absence of CD18 (β2-integrin) expression on neutrophils, confirming Leukocyte Adhesion Deficiency (LAD) type I. In functional assays, neutrophils showed defective chemotaxis and adherence to endothelial cells. Genetic testing identified mutations in the ITGB2 gene. This case underscores how defective integrin and selectin pathways disrupt leukocyte adhesion and transmigration, resulting in recurrent, non-healing infections.</a:t>
            </a:r>
          </a:p>
        </p:txBody>
      </p:sp>
    </p:spTree>
    <p:extLst>
      <p:ext uri="{BB962C8B-B14F-4D97-AF65-F5344CB8AC3E}">
        <p14:creationId xmlns:p14="http://schemas.microsoft.com/office/powerpoint/2010/main" val="260444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0275D4-AFA7-C6EE-B761-32F7B551F4FA}"/>
              </a:ext>
            </a:extLst>
          </p:cNvPr>
          <p:cNvSpPr>
            <a:spLocks noGrp="1"/>
          </p:cNvSpPr>
          <p:nvPr>
            <p:ph type="title"/>
          </p:nvPr>
        </p:nvSpPr>
        <p:spPr>
          <a:xfrm>
            <a:off x="838200" y="2766218"/>
            <a:ext cx="10515600" cy="1325563"/>
          </a:xfrm>
        </p:spPr>
        <p:txBody>
          <a:bodyPr>
            <a:normAutofit/>
          </a:bodyPr>
          <a:lstStyle/>
          <a:p>
            <a:pPr algn="ctr"/>
            <a:r>
              <a:rPr lang="en-US" sz="4800" b="1" dirty="0"/>
              <a:t>History</a:t>
            </a:r>
          </a:p>
        </p:txBody>
      </p:sp>
    </p:spTree>
    <p:extLst>
      <p:ext uri="{BB962C8B-B14F-4D97-AF65-F5344CB8AC3E}">
        <p14:creationId xmlns:p14="http://schemas.microsoft.com/office/powerpoint/2010/main" val="145682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34A95-DBC5-55D0-1533-23DEEC0F2C37}"/>
              </a:ext>
            </a:extLst>
          </p:cNvPr>
          <p:cNvSpPr>
            <a:spLocks noGrp="1"/>
          </p:cNvSpPr>
          <p:nvPr>
            <p:ph type="title"/>
          </p:nvPr>
        </p:nvSpPr>
        <p:spPr/>
        <p:txBody>
          <a:bodyPr/>
          <a:lstStyle/>
          <a:p>
            <a:r>
              <a:rPr lang="en-US" dirty="0"/>
              <a:t> </a:t>
            </a:r>
          </a:p>
        </p:txBody>
      </p:sp>
      <p:graphicFrame>
        <p:nvGraphicFramePr>
          <p:cNvPr id="3" name="Table 2">
            <a:extLst>
              <a:ext uri="{FF2B5EF4-FFF2-40B4-BE49-F238E27FC236}">
                <a16:creationId xmlns:a16="http://schemas.microsoft.com/office/drawing/2014/main" id="{0A04C180-A330-18FD-02CD-537B63B7BA6F}"/>
              </a:ext>
            </a:extLst>
          </p:cNvPr>
          <p:cNvGraphicFramePr>
            <a:graphicFrameLocks noGrp="1"/>
          </p:cNvGraphicFramePr>
          <p:nvPr>
            <p:extLst>
              <p:ext uri="{D42A27DB-BD31-4B8C-83A1-F6EECF244321}">
                <p14:modId xmlns:p14="http://schemas.microsoft.com/office/powerpoint/2010/main" val="1172923366"/>
              </p:ext>
            </p:extLst>
          </p:nvPr>
        </p:nvGraphicFramePr>
        <p:xfrm>
          <a:off x="190107" y="248326"/>
          <a:ext cx="11811785" cy="6497320"/>
        </p:xfrm>
        <a:graphic>
          <a:graphicData uri="http://schemas.openxmlformats.org/drawingml/2006/table">
            <a:tbl>
              <a:tblPr firstRow="1" bandRow="1">
                <a:tableStyleId>{5C22544A-7EE6-4342-B048-85BDC9FD1C3A}</a:tableStyleId>
              </a:tblPr>
              <a:tblGrid>
                <a:gridCol w="2362357">
                  <a:extLst>
                    <a:ext uri="{9D8B030D-6E8A-4147-A177-3AD203B41FA5}">
                      <a16:colId xmlns:a16="http://schemas.microsoft.com/office/drawing/2014/main" val="3894693809"/>
                    </a:ext>
                  </a:extLst>
                </a:gridCol>
                <a:gridCol w="2362357">
                  <a:extLst>
                    <a:ext uri="{9D8B030D-6E8A-4147-A177-3AD203B41FA5}">
                      <a16:colId xmlns:a16="http://schemas.microsoft.com/office/drawing/2014/main" val="660487933"/>
                    </a:ext>
                  </a:extLst>
                </a:gridCol>
                <a:gridCol w="2362357">
                  <a:extLst>
                    <a:ext uri="{9D8B030D-6E8A-4147-A177-3AD203B41FA5}">
                      <a16:colId xmlns:a16="http://schemas.microsoft.com/office/drawing/2014/main" val="1816242235"/>
                    </a:ext>
                  </a:extLst>
                </a:gridCol>
                <a:gridCol w="2362357">
                  <a:extLst>
                    <a:ext uri="{9D8B030D-6E8A-4147-A177-3AD203B41FA5}">
                      <a16:colId xmlns:a16="http://schemas.microsoft.com/office/drawing/2014/main" val="2254506695"/>
                    </a:ext>
                  </a:extLst>
                </a:gridCol>
                <a:gridCol w="2362357">
                  <a:extLst>
                    <a:ext uri="{9D8B030D-6E8A-4147-A177-3AD203B41FA5}">
                      <a16:colId xmlns:a16="http://schemas.microsoft.com/office/drawing/2014/main" val="1324224262"/>
                    </a:ext>
                  </a:extLst>
                </a:gridCol>
              </a:tblGrid>
              <a:tr h="370840">
                <a:tc>
                  <a:txBody>
                    <a:bodyPr/>
                    <a:lstStyle/>
                    <a:p>
                      <a:pPr>
                        <a:buNone/>
                      </a:pPr>
                      <a:r>
                        <a:rPr lang="en-US" b="1" dirty="0"/>
                        <a:t>Molecule / Junction</a:t>
                      </a:r>
                      <a:endParaRPr lang="en-US" dirty="0"/>
                    </a:p>
                  </a:txBody>
                  <a:tcPr anchor="ctr"/>
                </a:tc>
                <a:tc>
                  <a:txBody>
                    <a:bodyPr/>
                    <a:lstStyle/>
                    <a:p>
                      <a:pPr>
                        <a:buNone/>
                      </a:pPr>
                      <a:r>
                        <a:rPr lang="en-US" b="1"/>
                        <a:t>Scientist(s)</a:t>
                      </a:r>
                      <a:endParaRPr lang="en-US"/>
                    </a:p>
                  </a:txBody>
                  <a:tcPr anchor="ctr"/>
                </a:tc>
                <a:tc>
                  <a:txBody>
                    <a:bodyPr/>
                    <a:lstStyle/>
                    <a:p>
                      <a:pPr>
                        <a:buNone/>
                      </a:pPr>
                      <a:r>
                        <a:rPr lang="en-US" b="1"/>
                        <a:t>Year</a:t>
                      </a:r>
                      <a:endParaRPr lang="en-US"/>
                    </a:p>
                  </a:txBody>
                  <a:tcPr anchor="ctr"/>
                </a:tc>
                <a:tc>
                  <a:txBody>
                    <a:bodyPr/>
                    <a:lstStyle/>
                    <a:p>
                      <a:pPr>
                        <a:buNone/>
                      </a:pPr>
                      <a:r>
                        <a:rPr lang="en-US" b="1"/>
                        <a:t>Key Discovery</a:t>
                      </a:r>
                      <a:endParaRPr lang="en-US"/>
                    </a:p>
                  </a:txBody>
                  <a:tcPr anchor="ctr"/>
                </a:tc>
                <a:tc>
                  <a:txBody>
                    <a:bodyPr/>
                    <a:lstStyle/>
                    <a:p>
                      <a:pPr>
                        <a:buNone/>
                      </a:pPr>
                      <a:r>
                        <a:rPr lang="en-US" b="1"/>
                        <a:t>Clinical Relevance</a:t>
                      </a:r>
                      <a:endParaRPr lang="en-US"/>
                    </a:p>
                  </a:txBody>
                  <a:tcPr anchor="ctr"/>
                </a:tc>
                <a:extLst>
                  <a:ext uri="{0D108BD9-81ED-4DB2-BD59-A6C34878D82A}">
                    <a16:rowId xmlns:a16="http://schemas.microsoft.com/office/drawing/2014/main" val="508059414"/>
                  </a:ext>
                </a:extLst>
              </a:tr>
              <a:tr h="370840">
                <a:tc>
                  <a:txBody>
                    <a:bodyPr/>
                    <a:lstStyle/>
                    <a:p>
                      <a:pPr>
                        <a:buNone/>
                      </a:pPr>
                      <a:r>
                        <a:rPr lang="en-US"/>
                        <a:t>Tight junctions, adherens junctions, desmosomes</a:t>
                      </a:r>
                    </a:p>
                  </a:txBody>
                  <a:tcPr anchor="ctr"/>
                </a:tc>
                <a:tc>
                  <a:txBody>
                    <a:bodyPr/>
                    <a:lstStyle/>
                    <a:p>
                      <a:pPr>
                        <a:buNone/>
                      </a:pPr>
                      <a:r>
                        <a:rPr lang="en-US" b="1" dirty="0"/>
                        <a:t>M. James Farquhar &amp; George Palade</a:t>
                      </a:r>
                    </a:p>
                  </a:txBody>
                  <a:tcPr anchor="ctr"/>
                </a:tc>
                <a:tc>
                  <a:txBody>
                    <a:bodyPr/>
                    <a:lstStyle/>
                    <a:p>
                      <a:pPr>
                        <a:buNone/>
                      </a:pPr>
                      <a:r>
                        <a:rPr lang="en-US"/>
                        <a:t>1963</a:t>
                      </a:r>
                    </a:p>
                  </a:txBody>
                  <a:tcPr anchor="ctr"/>
                </a:tc>
                <a:tc>
                  <a:txBody>
                    <a:bodyPr/>
                    <a:lstStyle/>
                    <a:p>
                      <a:pPr>
                        <a:buNone/>
                      </a:pPr>
                      <a:r>
                        <a:rPr lang="en-US"/>
                        <a:t>Classified junctional complexes by EM</a:t>
                      </a:r>
                    </a:p>
                  </a:txBody>
                  <a:tcPr anchor="ctr"/>
                </a:tc>
                <a:tc>
                  <a:txBody>
                    <a:bodyPr/>
                    <a:lstStyle/>
                    <a:p>
                      <a:pPr>
                        <a:buNone/>
                      </a:pPr>
                      <a:r>
                        <a:rPr lang="en-US"/>
                        <a:t>Barrier integrity, epithelial cohesion</a:t>
                      </a:r>
                    </a:p>
                  </a:txBody>
                  <a:tcPr anchor="ctr"/>
                </a:tc>
                <a:extLst>
                  <a:ext uri="{0D108BD9-81ED-4DB2-BD59-A6C34878D82A}">
                    <a16:rowId xmlns:a16="http://schemas.microsoft.com/office/drawing/2014/main" val="3185699910"/>
                  </a:ext>
                </a:extLst>
              </a:tr>
              <a:tr h="370840">
                <a:tc>
                  <a:txBody>
                    <a:bodyPr/>
                    <a:lstStyle/>
                    <a:p>
                      <a:pPr>
                        <a:buNone/>
                      </a:pPr>
                      <a:r>
                        <a:rPr lang="en-US"/>
                        <a:t>Gap junctions</a:t>
                      </a:r>
                    </a:p>
                  </a:txBody>
                  <a:tcPr anchor="ctr"/>
                </a:tc>
                <a:tc>
                  <a:txBody>
                    <a:bodyPr/>
                    <a:lstStyle/>
                    <a:p>
                      <a:pPr>
                        <a:buNone/>
                      </a:pPr>
                      <a:r>
                        <a:rPr lang="en-US" b="1" dirty="0"/>
                        <a:t>Jean-Paul Revel &amp; Morris </a:t>
                      </a:r>
                      <a:r>
                        <a:rPr lang="en-US" b="1" dirty="0" err="1"/>
                        <a:t>Karnovsky</a:t>
                      </a:r>
                      <a:endParaRPr lang="en-US" b="1" dirty="0"/>
                    </a:p>
                  </a:txBody>
                  <a:tcPr anchor="ctr"/>
                </a:tc>
                <a:tc>
                  <a:txBody>
                    <a:bodyPr/>
                    <a:lstStyle/>
                    <a:p>
                      <a:pPr>
                        <a:buNone/>
                      </a:pPr>
                      <a:r>
                        <a:rPr lang="en-US"/>
                        <a:t>1967</a:t>
                      </a:r>
                    </a:p>
                  </a:txBody>
                  <a:tcPr anchor="ctr"/>
                </a:tc>
                <a:tc>
                  <a:txBody>
                    <a:bodyPr/>
                    <a:lstStyle/>
                    <a:p>
                      <a:pPr>
                        <a:buNone/>
                      </a:pPr>
                      <a:r>
                        <a:rPr lang="en-US"/>
                        <a:t>Identified gap junctions as intercellular channels</a:t>
                      </a:r>
                    </a:p>
                  </a:txBody>
                  <a:tcPr anchor="ctr"/>
                </a:tc>
                <a:tc>
                  <a:txBody>
                    <a:bodyPr/>
                    <a:lstStyle/>
                    <a:p>
                      <a:pPr>
                        <a:buNone/>
                      </a:pPr>
                      <a:r>
                        <a:rPr lang="en-US"/>
                        <a:t>Cardiac conduction, congenital deafness</a:t>
                      </a:r>
                    </a:p>
                  </a:txBody>
                  <a:tcPr anchor="ctr"/>
                </a:tc>
                <a:extLst>
                  <a:ext uri="{0D108BD9-81ED-4DB2-BD59-A6C34878D82A}">
                    <a16:rowId xmlns:a16="http://schemas.microsoft.com/office/drawing/2014/main" val="805033831"/>
                  </a:ext>
                </a:extLst>
              </a:tr>
              <a:tr h="370840">
                <a:tc>
                  <a:txBody>
                    <a:bodyPr/>
                    <a:lstStyle/>
                    <a:p>
                      <a:pPr>
                        <a:buNone/>
                      </a:pPr>
                      <a:r>
                        <a:rPr lang="en-US"/>
                        <a:t>Connexins (gap junction proteins)</a:t>
                      </a:r>
                    </a:p>
                  </a:txBody>
                  <a:tcPr anchor="ctr"/>
                </a:tc>
                <a:tc>
                  <a:txBody>
                    <a:bodyPr/>
                    <a:lstStyle/>
                    <a:p>
                      <a:pPr>
                        <a:buNone/>
                      </a:pPr>
                      <a:r>
                        <a:rPr lang="en-US" b="1" dirty="0"/>
                        <a:t>Norton Gilula, Bruce Nicholson</a:t>
                      </a:r>
                    </a:p>
                  </a:txBody>
                  <a:tcPr anchor="ctr"/>
                </a:tc>
                <a:tc>
                  <a:txBody>
                    <a:bodyPr/>
                    <a:lstStyle/>
                    <a:p>
                      <a:pPr>
                        <a:buNone/>
                      </a:pPr>
                      <a:r>
                        <a:rPr lang="en-US"/>
                        <a:t>1970s–80s</a:t>
                      </a:r>
                    </a:p>
                  </a:txBody>
                  <a:tcPr anchor="ctr"/>
                </a:tc>
                <a:tc>
                  <a:txBody>
                    <a:bodyPr/>
                    <a:lstStyle/>
                    <a:p>
                      <a:pPr>
                        <a:buNone/>
                      </a:pPr>
                      <a:r>
                        <a:rPr lang="en-US"/>
                        <a:t>Defined connexin proteins and genetics</a:t>
                      </a:r>
                    </a:p>
                  </a:txBody>
                  <a:tcPr anchor="ctr"/>
                </a:tc>
                <a:tc>
                  <a:txBody>
                    <a:bodyPr/>
                    <a:lstStyle/>
                    <a:p>
                      <a:pPr>
                        <a:buNone/>
                      </a:pPr>
                      <a:r>
                        <a:rPr lang="en-US"/>
                        <a:t>Epilepsy, arrhythmias</a:t>
                      </a:r>
                    </a:p>
                  </a:txBody>
                  <a:tcPr anchor="ctr"/>
                </a:tc>
                <a:extLst>
                  <a:ext uri="{0D108BD9-81ED-4DB2-BD59-A6C34878D82A}">
                    <a16:rowId xmlns:a16="http://schemas.microsoft.com/office/drawing/2014/main" val="1820182382"/>
                  </a:ext>
                </a:extLst>
              </a:tr>
              <a:tr h="370840">
                <a:tc>
                  <a:txBody>
                    <a:bodyPr/>
                    <a:lstStyle/>
                    <a:p>
                      <a:pPr>
                        <a:buNone/>
                      </a:pPr>
                      <a:r>
                        <a:rPr lang="en-US"/>
                        <a:t>Cadherins</a:t>
                      </a:r>
                    </a:p>
                  </a:txBody>
                  <a:tcPr anchor="ctr"/>
                </a:tc>
                <a:tc>
                  <a:txBody>
                    <a:bodyPr/>
                    <a:lstStyle/>
                    <a:p>
                      <a:pPr>
                        <a:buNone/>
                      </a:pPr>
                      <a:r>
                        <a:rPr lang="en-US" b="1" dirty="0"/>
                        <a:t>Masatoshi Takeichi</a:t>
                      </a:r>
                      <a:endParaRPr lang="en-US" dirty="0"/>
                    </a:p>
                  </a:txBody>
                  <a:tcPr anchor="ctr"/>
                </a:tc>
                <a:tc>
                  <a:txBody>
                    <a:bodyPr/>
                    <a:lstStyle/>
                    <a:p>
                      <a:pPr>
                        <a:buNone/>
                      </a:pPr>
                      <a:r>
                        <a:rPr lang="en-US"/>
                        <a:t>Late 1970s–80s</a:t>
                      </a:r>
                    </a:p>
                  </a:txBody>
                  <a:tcPr anchor="ctr"/>
                </a:tc>
                <a:tc>
                  <a:txBody>
                    <a:bodyPr/>
                    <a:lstStyle/>
                    <a:p>
                      <a:pPr>
                        <a:buNone/>
                      </a:pPr>
                      <a:r>
                        <a:rPr lang="en-US"/>
                        <a:t>Discovered cadherins, Ca²⁺-dependent adhesion</a:t>
                      </a:r>
                    </a:p>
                  </a:txBody>
                  <a:tcPr anchor="ctr"/>
                </a:tc>
                <a:tc>
                  <a:txBody>
                    <a:bodyPr/>
                    <a:lstStyle/>
                    <a:p>
                      <a:pPr>
                        <a:buNone/>
                      </a:pPr>
                      <a:r>
                        <a:rPr lang="en-US"/>
                        <a:t>Pemphigus vulgaris, cancer metastasis</a:t>
                      </a:r>
                    </a:p>
                  </a:txBody>
                  <a:tcPr anchor="ctr"/>
                </a:tc>
                <a:extLst>
                  <a:ext uri="{0D108BD9-81ED-4DB2-BD59-A6C34878D82A}">
                    <a16:rowId xmlns:a16="http://schemas.microsoft.com/office/drawing/2014/main" val="2641399086"/>
                  </a:ext>
                </a:extLst>
              </a:tr>
              <a:tr h="370840">
                <a:tc>
                  <a:txBody>
                    <a:bodyPr/>
                    <a:lstStyle/>
                    <a:p>
                      <a:pPr>
                        <a:buNone/>
                      </a:pPr>
                      <a:r>
                        <a:rPr lang="en-US"/>
                        <a:t>Integrins</a:t>
                      </a:r>
                    </a:p>
                  </a:txBody>
                  <a:tcPr anchor="ctr"/>
                </a:tc>
                <a:tc>
                  <a:txBody>
                    <a:bodyPr/>
                    <a:lstStyle/>
                    <a:p>
                      <a:pPr>
                        <a:buNone/>
                      </a:pPr>
                      <a:r>
                        <a:rPr lang="en-US" b="1" dirty="0"/>
                        <a:t>Richard Hynes; Timothy Springer</a:t>
                      </a:r>
                    </a:p>
                  </a:txBody>
                  <a:tcPr anchor="ctr"/>
                </a:tc>
                <a:tc>
                  <a:txBody>
                    <a:bodyPr/>
                    <a:lstStyle/>
                    <a:p>
                      <a:pPr>
                        <a:buNone/>
                      </a:pPr>
                      <a:r>
                        <a:rPr lang="en-US"/>
                        <a:t>1980s</a:t>
                      </a:r>
                    </a:p>
                  </a:txBody>
                  <a:tcPr anchor="ctr"/>
                </a:tc>
                <a:tc>
                  <a:txBody>
                    <a:bodyPr/>
                    <a:lstStyle/>
                    <a:p>
                      <a:pPr>
                        <a:buNone/>
                      </a:pPr>
                      <a:r>
                        <a:rPr lang="en-US"/>
                        <a:t>Identified integrins linking ECM to cytoskeleton</a:t>
                      </a:r>
                    </a:p>
                  </a:txBody>
                  <a:tcPr anchor="ctr"/>
                </a:tc>
                <a:tc>
                  <a:txBody>
                    <a:bodyPr/>
                    <a:lstStyle/>
                    <a:p>
                      <a:pPr>
                        <a:buNone/>
                      </a:pPr>
                      <a:r>
                        <a:rPr lang="en-US"/>
                        <a:t>Wound healing, LAD type I</a:t>
                      </a:r>
                    </a:p>
                  </a:txBody>
                  <a:tcPr anchor="ctr"/>
                </a:tc>
                <a:extLst>
                  <a:ext uri="{0D108BD9-81ED-4DB2-BD59-A6C34878D82A}">
                    <a16:rowId xmlns:a16="http://schemas.microsoft.com/office/drawing/2014/main" val="1797748148"/>
                  </a:ext>
                </a:extLst>
              </a:tr>
              <a:tr h="370840">
                <a:tc>
                  <a:txBody>
                    <a:bodyPr/>
                    <a:lstStyle/>
                    <a:p>
                      <a:pPr>
                        <a:buNone/>
                      </a:pPr>
                      <a:r>
                        <a:rPr lang="en-US"/>
                        <a:t>Selectins</a:t>
                      </a:r>
                    </a:p>
                  </a:txBody>
                  <a:tcPr anchor="ctr"/>
                </a:tc>
                <a:tc>
                  <a:txBody>
                    <a:bodyPr/>
                    <a:lstStyle/>
                    <a:p>
                      <a:pPr>
                        <a:buNone/>
                      </a:pPr>
                      <a:r>
                        <a:rPr lang="en-US" b="1" dirty="0"/>
                        <a:t>Eugene Butcher; Timothy Springer</a:t>
                      </a:r>
                    </a:p>
                  </a:txBody>
                  <a:tcPr anchor="ctr"/>
                </a:tc>
                <a:tc>
                  <a:txBody>
                    <a:bodyPr/>
                    <a:lstStyle/>
                    <a:p>
                      <a:pPr>
                        <a:buNone/>
                      </a:pPr>
                      <a:r>
                        <a:rPr lang="en-US"/>
                        <a:t>1980s–90s</a:t>
                      </a:r>
                    </a:p>
                  </a:txBody>
                  <a:tcPr anchor="ctr"/>
                </a:tc>
                <a:tc>
                  <a:txBody>
                    <a:bodyPr/>
                    <a:lstStyle/>
                    <a:p>
                      <a:pPr>
                        <a:buNone/>
                      </a:pPr>
                      <a:r>
                        <a:rPr lang="en-US"/>
                        <a:t>Defined selectins mediating leukocyte rolling</a:t>
                      </a:r>
                    </a:p>
                  </a:txBody>
                  <a:tcPr anchor="ctr"/>
                </a:tc>
                <a:tc>
                  <a:txBody>
                    <a:bodyPr/>
                    <a:lstStyle/>
                    <a:p>
                      <a:pPr>
                        <a:buNone/>
                      </a:pPr>
                      <a:r>
                        <a:rPr lang="en-US"/>
                        <a:t>Inflammation, immune response</a:t>
                      </a:r>
                    </a:p>
                  </a:txBody>
                  <a:tcPr anchor="ctr"/>
                </a:tc>
                <a:extLst>
                  <a:ext uri="{0D108BD9-81ED-4DB2-BD59-A6C34878D82A}">
                    <a16:rowId xmlns:a16="http://schemas.microsoft.com/office/drawing/2014/main" val="450773672"/>
                  </a:ext>
                </a:extLst>
              </a:tr>
              <a:tr h="370840">
                <a:tc>
                  <a:txBody>
                    <a:bodyPr/>
                    <a:lstStyle/>
                    <a:p>
                      <a:pPr>
                        <a:buNone/>
                      </a:pPr>
                      <a:r>
                        <a:rPr lang="en-US"/>
                        <a:t>Ig Superfamily CAMs (NCAM, ICAM, VCAM)</a:t>
                      </a:r>
                    </a:p>
                  </a:txBody>
                  <a:tcPr anchor="ctr"/>
                </a:tc>
                <a:tc>
                  <a:txBody>
                    <a:bodyPr/>
                    <a:lstStyle/>
                    <a:p>
                      <a:pPr>
                        <a:buNone/>
                      </a:pPr>
                      <a:r>
                        <a:rPr lang="en-US" b="1" dirty="0"/>
                        <a:t>Gerald Edelman</a:t>
                      </a:r>
                    </a:p>
                  </a:txBody>
                  <a:tcPr anchor="ctr"/>
                </a:tc>
                <a:tc>
                  <a:txBody>
                    <a:bodyPr/>
                    <a:lstStyle/>
                    <a:p>
                      <a:pPr>
                        <a:buNone/>
                      </a:pPr>
                      <a:r>
                        <a:rPr lang="en-US"/>
                        <a:t>1970s–80s</a:t>
                      </a:r>
                    </a:p>
                  </a:txBody>
                  <a:tcPr anchor="ctr"/>
                </a:tc>
                <a:tc>
                  <a:txBody>
                    <a:bodyPr/>
                    <a:lstStyle/>
                    <a:p>
                      <a:pPr>
                        <a:buNone/>
                      </a:pPr>
                      <a:r>
                        <a:rPr lang="en-US"/>
                        <a:t>Discovered NCAM and IgSF adhesion molecules</a:t>
                      </a:r>
                    </a:p>
                  </a:txBody>
                  <a:tcPr anchor="ctr"/>
                </a:tc>
                <a:tc>
                  <a:txBody>
                    <a:bodyPr/>
                    <a:lstStyle/>
                    <a:p>
                      <a:pPr>
                        <a:buNone/>
                      </a:pPr>
                      <a:r>
                        <a:rPr lang="en-US" dirty="0"/>
                        <a:t>Neural development, immune adhesion</a:t>
                      </a:r>
                    </a:p>
                  </a:txBody>
                  <a:tcPr anchor="ctr"/>
                </a:tc>
                <a:extLst>
                  <a:ext uri="{0D108BD9-81ED-4DB2-BD59-A6C34878D82A}">
                    <a16:rowId xmlns:a16="http://schemas.microsoft.com/office/drawing/2014/main" val="1528557402"/>
                  </a:ext>
                </a:extLst>
              </a:tr>
            </a:tbl>
          </a:graphicData>
        </a:graphic>
      </p:graphicFrame>
    </p:spTree>
    <p:extLst>
      <p:ext uri="{BB962C8B-B14F-4D97-AF65-F5344CB8AC3E}">
        <p14:creationId xmlns:p14="http://schemas.microsoft.com/office/powerpoint/2010/main" val="4207299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49F8-9B24-566C-D3D7-4814420BEA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67FD8-77F6-B73E-13BE-3099FBF5E574}"/>
              </a:ext>
            </a:extLst>
          </p:cNvPr>
          <p:cNvSpPr>
            <a:spLocks noGrp="1"/>
          </p:cNvSpPr>
          <p:nvPr>
            <p:ph type="title"/>
          </p:nvPr>
        </p:nvSpPr>
        <p:spPr>
          <a:xfrm>
            <a:off x="838200" y="2766218"/>
            <a:ext cx="10515600" cy="1325563"/>
          </a:xfrm>
        </p:spPr>
        <p:txBody>
          <a:bodyPr>
            <a:normAutofit/>
          </a:bodyPr>
          <a:lstStyle/>
          <a:p>
            <a:pPr algn="ctr"/>
            <a:r>
              <a:rPr lang="en-US" sz="4800" b="1" dirty="0"/>
              <a:t>Cell Adhesion Molecules (CAMs)</a:t>
            </a:r>
          </a:p>
        </p:txBody>
      </p:sp>
    </p:spTree>
    <p:extLst>
      <p:ext uri="{BB962C8B-B14F-4D97-AF65-F5344CB8AC3E}">
        <p14:creationId xmlns:p14="http://schemas.microsoft.com/office/powerpoint/2010/main" val="118613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88E7-F124-7502-0A4C-14595BBA41B9}"/>
              </a:ext>
            </a:extLst>
          </p:cNvPr>
          <p:cNvSpPr>
            <a:spLocks noGrp="1"/>
          </p:cNvSpPr>
          <p:nvPr>
            <p:ph type="title"/>
          </p:nvPr>
        </p:nvSpPr>
        <p:spPr/>
        <p:txBody>
          <a:bodyPr/>
          <a:lstStyle/>
          <a:p>
            <a:r>
              <a:rPr lang="en-US" dirty="0"/>
              <a:t> </a:t>
            </a:r>
          </a:p>
        </p:txBody>
      </p:sp>
      <p:graphicFrame>
        <p:nvGraphicFramePr>
          <p:cNvPr id="3" name="Table 2">
            <a:extLst>
              <a:ext uri="{FF2B5EF4-FFF2-40B4-BE49-F238E27FC236}">
                <a16:creationId xmlns:a16="http://schemas.microsoft.com/office/drawing/2014/main" id="{ACCA5B6E-6BF6-37F5-B600-4F78CFA4277B}"/>
              </a:ext>
            </a:extLst>
          </p:cNvPr>
          <p:cNvGraphicFramePr>
            <a:graphicFrameLocks noGrp="1"/>
          </p:cNvGraphicFramePr>
          <p:nvPr>
            <p:extLst>
              <p:ext uri="{D42A27DB-BD31-4B8C-83A1-F6EECF244321}">
                <p14:modId xmlns:p14="http://schemas.microsoft.com/office/powerpoint/2010/main" val="3589157509"/>
              </p:ext>
            </p:extLst>
          </p:nvPr>
        </p:nvGraphicFramePr>
        <p:xfrm>
          <a:off x="435205" y="180340"/>
          <a:ext cx="11321590" cy="6497320"/>
        </p:xfrm>
        <a:graphic>
          <a:graphicData uri="http://schemas.openxmlformats.org/drawingml/2006/table">
            <a:tbl>
              <a:tblPr firstRow="1" bandRow="1">
                <a:tableStyleId>{5C22544A-7EE6-4342-B048-85BDC9FD1C3A}</a:tableStyleId>
              </a:tblPr>
              <a:tblGrid>
                <a:gridCol w="2264318">
                  <a:extLst>
                    <a:ext uri="{9D8B030D-6E8A-4147-A177-3AD203B41FA5}">
                      <a16:colId xmlns:a16="http://schemas.microsoft.com/office/drawing/2014/main" val="404508750"/>
                    </a:ext>
                  </a:extLst>
                </a:gridCol>
                <a:gridCol w="2264318">
                  <a:extLst>
                    <a:ext uri="{9D8B030D-6E8A-4147-A177-3AD203B41FA5}">
                      <a16:colId xmlns:a16="http://schemas.microsoft.com/office/drawing/2014/main" val="1552808470"/>
                    </a:ext>
                  </a:extLst>
                </a:gridCol>
                <a:gridCol w="2264318">
                  <a:extLst>
                    <a:ext uri="{9D8B030D-6E8A-4147-A177-3AD203B41FA5}">
                      <a16:colId xmlns:a16="http://schemas.microsoft.com/office/drawing/2014/main" val="4108594764"/>
                    </a:ext>
                  </a:extLst>
                </a:gridCol>
                <a:gridCol w="2264318">
                  <a:extLst>
                    <a:ext uri="{9D8B030D-6E8A-4147-A177-3AD203B41FA5}">
                      <a16:colId xmlns:a16="http://schemas.microsoft.com/office/drawing/2014/main" val="3328883565"/>
                    </a:ext>
                  </a:extLst>
                </a:gridCol>
                <a:gridCol w="2264318">
                  <a:extLst>
                    <a:ext uri="{9D8B030D-6E8A-4147-A177-3AD203B41FA5}">
                      <a16:colId xmlns:a16="http://schemas.microsoft.com/office/drawing/2014/main" val="2503577738"/>
                    </a:ext>
                  </a:extLst>
                </a:gridCol>
              </a:tblGrid>
              <a:tr h="370840">
                <a:tc>
                  <a:txBody>
                    <a:bodyPr/>
                    <a:lstStyle/>
                    <a:p>
                      <a:pPr>
                        <a:buNone/>
                      </a:pPr>
                      <a:r>
                        <a:rPr lang="en-US" b="1" dirty="0"/>
                        <a:t>CAM Family</a:t>
                      </a:r>
                      <a:endParaRPr lang="en-US" dirty="0"/>
                    </a:p>
                  </a:txBody>
                  <a:tcPr anchor="ctr"/>
                </a:tc>
                <a:tc>
                  <a:txBody>
                    <a:bodyPr/>
                    <a:lstStyle/>
                    <a:p>
                      <a:pPr>
                        <a:buNone/>
                      </a:pPr>
                      <a:r>
                        <a:rPr lang="en-US" b="1"/>
                        <a:t>Main Molecules</a:t>
                      </a:r>
                      <a:endParaRPr lang="en-US"/>
                    </a:p>
                  </a:txBody>
                  <a:tcPr anchor="ctr"/>
                </a:tc>
                <a:tc>
                  <a:txBody>
                    <a:bodyPr/>
                    <a:lstStyle/>
                    <a:p>
                      <a:pPr>
                        <a:buNone/>
                      </a:pPr>
                      <a:r>
                        <a:rPr lang="en-US" b="1"/>
                        <a:t>Binding Property</a:t>
                      </a:r>
                      <a:endParaRPr lang="en-US"/>
                    </a:p>
                  </a:txBody>
                  <a:tcPr anchor="ctr"/>
                </a:tc>
                <a:tc>
                  <a:txBody>
                    <a:bodyPr/>
                    <a:lstStyle/>
                    <a:p>
                      <a:pPr>
                        <a:buNone/>
                      </a:pPr>
                      <a:r>
                        <a:rPr lang="en-US" b="1"/>
                        <a:t>Function</a:t>
                      </a:r>
                      <a:endParaRPr lang="en-US"/>
                    </a:p>
                  </a:txBody>
                  <a:tcPr anchor="ctr"/>
                </a:tc>
                <a:tc>
                  <a:txBody>
                    <a:bodyPr/>
                    <a:lstStyle/>
                    <a:p>
                      <a:pPr>
                        <a:buNone/>
                      </a:pPr>
                      <a:r>
                        <a:rPr lang="en-US" b="1"/>
                        <a:t>Clinical Relevance</a:t>
                      </a:r>
                      <a:endParaRPr lang="en-US"/>
                    </a:p>
                  </a:txBody>
                  <a:tcPr anchor="ctr"/>
                </a:tc>
                <a:extLst>
                  <a:ext uri="{0D108BD9-81ED-4DB2-BD59-A6C34878D82A}">
                    <a16:rowId xmlns:a16="http://schemas.microsoft.com/office/drawing/2014/main" val="3741366181"/>
                  </a:ext>
                </a:extLst>
              </a:tr>
              <a:tr h="370840">
                <a:tc>
                  <a:txBody>
                    <a:bodyPr/>
                    <a:lstStyle/>
                    <a:p>
                      <a:pPr>
                        <a:buNone/>
                      </a:pPr>
                      <a:r>
                        <a:rPr lang="en-US" b="1"/>
                        <a:t>Cadherins</a:t>
                      </a:r>
                      <a:endParaRPr lang="en-US"/>
                    </a:p>
                  </a:txBody>
                  <a:tcPr anchor="ctr"/>
                </a:tc>
                <a:tc>
                  <a:txBody>
                    <a:bodyPr/>
                    <a:lstStyle/>
                    <a:p>
                      <a:pPr>
                        <a:buNone/>
                      </a:pPr>
                      <a:r>
                        <a:rPr lang="en-US"/>
                        <a:t>E-cadherin, N-cadherin, P-cadherin</a:t>
                      </a:r>
                    </a:p>
                  </a:txBody>
                  <a:tcPr anchor="ctr"/>
                </a:tc>
                <a:tc>
                  <a:txBody>
                    <a:bodyPr/>
                    <a:lstStyle/>
                    <a:p>
                      <a:pPr>
                        <a:buNone/>
                      </a:pPr>
                      <a:r>
                        <a:rPr lang="en-US" b="1"/>
                        <a:t>Calcium-dependent</a:t>
                      </a:r>
                      <a:r>
                        <a:rPr lang="en-US"/>
                        <a:t>, homophilic (binds same type)</a:t>
                      </a:r>
                    </a:p>
                  </a:txBody>
                  <a:tcPr anchor="ctr"/>
                </a:tc>
                <a:tc>
                  <a:txBody>
                    <a:bodyPr/>
                    <a:lstStyle/>
                    <a:p>
                      <a:pPr>
                        <a:buNone/>
                      </a:pPr>
                      <a:r>
                        <a:rPr lang="en-US"/>
                        <a:t>Cell–cell adhesion, embryogenesis, tissue architecture</a:t>
                      </a:r>
                    </a:p>
                  </a:txBody>
                  <a:tcPr anchor="ctr"/>
                </a:tc>
                <a:tc>
                  <a:txBody>
                    <a:bodyPr/>
                    <a:lstStyle/>
                    <a:p>
                      <a:pPr>
                        <a:buNone/>
                      </a:pPr>
                      <a:r>
                        <a:rPr lang="en-US"/>
                        <a:t>Pemphigus vulgaris (anti-desmoglein), E-cadherin loss → cancer metastasis</a:t>
                      </a:r>
                    </a:p>
                  </a:txBody>
                  <a:tcPr anchor="ctr"/>
                </a:tc>
                <a:extLst>
                  <a:ext uri="{0D108BD9-81ED-4DB2-BD59-A6C34878D82A}">
                    <a16:rowId xmlns:a16="http://schemas.microsoft.com/office/drawing/2014/main" val="698886574"/>
                  </a:ext>
                </a:extLst>
              </a:tr>
              <a:tr h="370840">
                <a:tc>
                  <a:txBody>
                    <a:bodyPr/>
                    <a:lstStyle/>
                    <a:p>
                      <a:pPr>
                        <a:buNone/>
                      </a:pPr>
                      <a:r>
                        <a:rPr lang="en-US" b="1"/>
                        <a:t>Integrins</a:t>
                      </a:r>
                      <a:endParaRPr lang="en-US"/>
                    </a:p>
                  </a:txBody>
                  <a:tcPr anchor="ctr"/>
                </a:tc>
                <a:tc>
                  <a:txBody>
                    <a:bodyPr/>
                    <a:lstStyle/>
                    <a:p>
                      <a:pPr>
                        <a:buNone/>
                      </a:pPr>
                      <a:r>
                        <a:rPr lang="el-GR"/>
                        <a:t>α </a:t>
                      </a:r>
                      <a:r>
                        <a:rPr lang="en-US"/>
                        <a:t>and </a:t>
                      </a:r>
                      <a:r>
                        <a:rPr lang="el-GR"/>
                        <a:t>β </a:t>
                      </a:r>
                      <a:r>
                        <a:rPr lang="en-US"/>
                        <a:t>heterodimers (e.g., </a:t>
                      </a:r>
                      <a:r>
                        <a:rPr lang="el-GR"/>
                        <a:t>α5β1, α</a:t>
                      </a:r>
                      <a:r>
                        <a:rPr lang="en-US"/>
                        <a:t>IIb</a:t>
                      </a:r>
                      <a:r>
                        <a:rPr lang="el-GR"/>
                        <a:t>β3, α</a:t>
                      </a:r>
                      <a:r>
                        <a:rPr lang="en-US"/>
                        <a:t>L</a:t>
                      </a:r>
                      <a:r>
                        <a:rPr lang="el-GR"/>
                        <a:t>β2/</a:t>
                      </a:r>
                      <a:r>
                        <a:rPr lang="en-US"/>
                        <a:t>LFA-1)</a:t>
                      </a:r>
                    </a:p>
                  </a:txBody>
                  <a:tcPr anchor="ctr"/>
                </a:tc>
                <a:tc>
                  <a:txBody>
                    <a:bodyPr/>
                    <a:lstStyle/>
                    <a:p>
                      <a:pPr>
                        <a:buNone/>
                      </a:pPr>
                      <a:r>
                        <a:rPr lang="en-US"/>
                        <a:t>Bind </a:t>
                      </a:r>
                      <a:r>
                        <a:rPr lang="en-US" b="1"/>
                        <a:t>ECM proteins</a:t>
                      </a:r>
                      <a:r>
                        <a:rPr lang="en-US"/>
                        <a:t> (fibronectin, collagen, laminin) &amp; counter-receptors (ICAM/VCAM)</a:t>
                      </a:r>
                    </a:p>
                  </a:txBody>
                  <a:tcPr anchor="ctr"/>
                </a:tc>
                <a:tc>
                  <a:txBody>
                    <a:bodyPr/>
                    <a:lstStyle/>
                    <a:p>
                      <a:pPr>
                        <a:buNone/>
                      </a:pPr>
                      <a:r>
                        <a:rPr lang="fr-FR"/>
                        <a:t>Cell–matrix adhesion, migration, immune cell trafficking</a:t>
                      </a:r>
                    </a:p>
                  </a:txBody>
                  <a:tcPr anchor="ctr"/>
                </a:tc>
                <a:tc>
                  <a:txBody>
                    <a:bodyPr/>
                    <a:lstStyle/>
                    <a:p>
                      <a:pPr>
                        <a:buNone/>
                      </a:pPr>
                      <a:r>
                        <a:rPr lang="en-US"/>
                        <a:t>Leukocyte Adhesion Deficiency (CD18 defect), platelet aggregation (target of anti-thrombotics)</a:t>
                      </a:r>
                    </a:p>
                  </a:txBody>
                  <a:tcPr anchor="ctr"/>
                </a:tc>
                <a:extLst>
                  <a:ext uri="{0D108BD9-81ED-4DB2-BD59-A6C34878D82A}">
                    <a16:rowId xmlns:a16="http://schemas.microsoft.com/office/drawing/2014/main" val="3706759612"/>
                  </a:ext>
                </a:extLst>
              </a:tr>
              <a:tr h="370840">
                <a:tc>
                  <a:txBody>
                    <a:bodyPr/>
                    <a:lstStyle/>
                    <a:p>
                      <a:pPr>
                        <a:buNone/>
                      </a:pPr>
                      <a:r>
                        <a:rPr lang="en-US" b="1"/>
                        <a:t>Selectins</a:t>
                      </a:r>
                      <a:endParaRPr lang="en-US"/>
                    </a:p>
                  </a:txBody>
                  <a:tcPr anchor="ctr"/>
                </a:tc>
                <a:tc>
                  <a:txBody>
                    <a:bodyPr/>
                    <a:lstStyle/>
                    <a:p>
                      <a:pPr>
                        <a:buNone/>
                      </a:pPr>
                      <a:r>
                        <a:rPr lang="en-US"/>
                        <a:t>L-selectin (leukocytes), E-selectin (endothelium), P-selectin (platelets/endothelium)</a:t>
                      </a:r>
                    </a:p>
                  </a:txBody>
                  <a:tcPr anchor="ctr"/>
                </a:tc>
                <a:tc>
                  <a:txBody>
                    <a:bodyPr/>
                    <a:lstStyle/>
                    <a:p>
                      <a:pPr>
                        <a:buNone/>
                      </a:pPr>
                      <a:r>
                        <a:rPr lang="en-US" b="1"/>
                        <a:t>Calcium-dependent</a:t>
                      </a:r>
                      <a:r>
                        <a:rPr lang="en-US"/>
                        <a:t>, bind to </a:t>
                      </a:r>
                      <a:r>
                        <a:rPr lang="en-US" b="1"/>
                        <a:t>carbohydrate ligands (sialyl-LewisX)</a:t>
                      </a:r>
                      <a:endParaRPr lang="en-US"/>
                    </a:p>
                  </a:txBody>
                  <a:tcPr anchor="ctr"/>
                </a:tc>
                <a:tc>
                  <a:txBody>
                    <a:bodyPr/>
                    <a:lstStyle/>
                    <a:p>
                      <a:pPr>
                        <a:buNone/>
                      </a:pPr>
                      <a:r>
                        <a:rPr lang="en-US"/>
                        <a:t>Mediate leukocyte rolling on endothelium during inflammation</a:t>
                      </a:r>
                    </a:p>
                  </a:txBody>
                  <a:tcPr anchor="ctr"/>
                </a:tc>
                <a:tc>
                  <a:txBody>
                    <a:bodyPr/>
                    <a:lstStyle/>
                    <a:p>
                      <a:pPr>
                        <a:buNone/>
                      </a:pPr>
                      <a:r>
                        <a:rPr lang="en-US"/>
                        <a:t>Inflammatory disorders, defective rolling in LAD type II</a:t>
                      </a:r>
                    </a:p>
                  </a:txBody>
                  <a:tcPr anchor="ctr"/>
                </a:tc>
                <a:extLst>
                  <a:ext uri="{0D108BD9-81ED-4DB2-BD59-A6C34878D82A}">
                    <a16:rowId xmlns:a16="http://schemas.microsoft.com/office/drawing/2014/main" val="1899861602"/>
                  </a:ext>
                </a:extLst>
              </a:tr>
              <a:tr h="370840">
                <a:tc>
                  <a:txBody>
                    <a:bodyPr/>
                    <a:lstStyle/>
                    <a:p>
                      <a:pPr>
                        <a:buNone/>
                      </a:pPr>
                      <a:r>
                        <a:rPr lang="en-US" b="1"/>
                        <a:t>Ig Superfamily CAMs</a:t>
                      </a:r>
                      <a:endParaRPr lang="en-US"/>
                    </a:p>
                  </a:txBody>
                  <a:tcPr anchor="ctr"/>
                </a:tc>
                <a:tc>
                  <a:txBody>
                    <a:bodyPr/>
                    <a:lstStyle/>
                    <a:p>
                      <a:pPr>
                        <a:buNone/>
                      </a:pPr>
                      <a:r>
                        <a:rPr lang="pt-BR"/>
                        <a:t>NCAM (Neural CAM), ICAM-1, VCAM-1</a:t>
                      </a:r>
                    </a:p>
                  </a:txBody>
                  <a:tcPr anchor="ctr"/>
                </a:tc>
                <a:tc>
                  <a:txBody>
                    <a:bodyPr/>
                    <a:lstStyle/>
                    <a:p>
                      <a:pPr>
                        <a:buNone/>
                      </a:pPr>
                      <a:r>
                        <a:rPr lang="en-US" b="1"/>
                        <a:t>Calcium-independent</a:t>
                      </a:r>
                      <a:r>
                        <a:rPr lang="en-US"/>
                        <a:t>, immunoglobulin-like domains</a:t>
                      </a:r>
                    </a:p>
                  </a:txBody>
                  <a:tcPr anchor="ctr"/>
                </a:tc>
                <a:tc>
                  <a:txBody>
                    <a:bodyPr/>
                    <a:lstStyle/>
                    <a:p>
                      <a:pPr>
                        <a:buNone/>
                      </a:pPr>
                      <a:r>
                        <a:rPr lang="fr-FR"/>
                        <a:t>Neuronal development, immune synapse formation, leukocyte adhesion</a:t>
                      </a:r>
                    </a:p>
                  </a:txBody>
                  <a:tcPr anchor="ctr"/>
                </a:tc>
                <a:tc>
                  <a:txBody>
                    <a:bodyPr/>
                    <a:lstStyle/>
                    <a:p>
                      <a:pPr>
                        <a:buNone/>
                      </a:pPr>
                      <a:r>
                        <a:rPr lang="en-US" dirty="0"/>
                        <a:t>Multiple sclerosis (ICAM/VCAM in immune infiltration), cancer cell migration</a:t>
                      </a:r>
                    </a:p>
                  </a:txBody>
                  <a:tcPr anchor="ctr"/>
                </a:tc>
                <a:extLst>
                  <a:ext uri="{0D108BD9-81ED-4DB2-BD59-A6C34878D82A}">
                    <a16:rowId xmlns:a16="http://schemas.microsoft.com/office/drawing/2014/main" val="1278161933"/>
                  </a:ext>
                </a:extLst>
              </a:tr>
            </a:tbl>
          </a:graphicData>
        </a:graphic>
      </p:graphicFrame>
    </p:spTree>
    <p:extLst>
      <p:ext uri="{BB962C8B-B14F-4D97-AF65-F5344CB8AC3E}">
        <p14:creationId xmlns:p14="http://schemas.microsoft.com/office/powerpoint/2010/main" val="2662495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1869-02CF-C8B2-FC73-4B4E8005454C}"/>
              </a:ext>
            </a:extLst>
          </p:cNvPr>
          <p:cNvSpPr>
            <a:spLocks noGrp="1"/>
          </p:cNvSpPr>
          <p:nvPr>
            <p:ph type="title"/>
          </p:nvPr>
        </p:nvSpPr>
        <p:spPr/>
        <p:txBody>
          <a:bodyPr/>
          <a:lstStyle/>
          <a:p>
            <a:r>
              <a:rPr lang="en-US" dirty="0"/>
              <a:t> </a:t>
            </a:r>
          </a:p>
        </p:txBody>
      </p:sp>
      <p:graphicFrame>
        <p:nvGraphicFramePr>
          <p:cNvPr id="3" name="Table 2">
            <a:extLst>
              <a:ext uri="{FF2B5EF4-FFF2-40B4-BE49-F238E27FC236}">
                <a16:creationId xmlns:a16="http://schemas.microsoft.com/office/drawing/2014/main" id="{BA63F9FF-AF30-7C0C-F91D-B77195003BE7}"/>
              </a:ext>
            </a:extLst>
          </p:cNvPr>
          <p:cNvGraphicFramePr>
            <a:graphicFrameLocks noGrp="1"/>
          </p:cNvGraphicFramePr>
          <p:nvPr>
            <p:extLst>
              <p:ext uri="{D42A27DB-BD31-4B8C-83A1-F6EECF244321}">
                <p14:modId xmlns:p14="http://schemas.microsoft.com/office/powerpoint/2010/main" val="3928237177"/>
              </p:ext>
            </p:extLst>
          </p:nvPr>
        </p:nvGraphicFramePr>
        <p:xfrm>
          <a:off x="293801" y="137160"/>
          <a:ext cx="11302740" cy="6583680"/>
        </p:xfrm>
        <a:graphic>
          <a:graphicData uri="http://schemas.openxmlformats.org/drawingml/2006/table">
            <a:tbl>
              <a:tblPr firstRow="1" bandRow="1">
                <a:tableStyleId>{5C22544A-7EE6-4342-B048-85BDC9FD1C3A}</a:tableStyleId>
              </a:tblPr>
              <a:tblGrid>
                <a:gridCol w="2260548">
                  <a:extLst>
                    <a:ext uri="{9D8B030D-6E8A-4147-A177-3AD203B41FA5}">
                      <a16:colId xmlns:a16="http://schemas.microsoft.com/office/drawing/2014/main" val="1463773333"/>
                    </a:ext>
                  </a:extLst>
                </a:gridCol>
                <a:gridCol w="2260548">
                  <a:extLst>
                    <a:ext uri="{9D8B030D-6E8A-4147-A177-3AD203B41FA5}">
                      <a16:colId xmlns:a16="http://schemas.microsoft.com/office/drawing/2014/main" val="4021707368"/>
                    </a:ext>
                  </a:extLst>
                </a:gridCol>
                <a:gridCol w="2260548">
                  <a:extLst>
                    <a:ext uri="{9D8B030D-6E8A-4147-A177-3AD203B41FA5}">
                      <a16:colId xmlns:a16="http://schemas.microsoft.com/office/drawing/2014/main" val="1651015268"/>
                    </a:ext>
                  </a:extLst>
                </a:gridCol>
                <a:gridCol w="2260548">
                  <a:extLst>
                    <a:ext uri="{9D8B030D-6E8A-4147-A177-3AD203B41FA5}">
                      <a16:colId xmlns:a16="http://schemas.microsoft.com/office/drawing/2014/main" val="3696140375"/>
                    </a:ext>
                  </a:extLst>
                </a:gridCol>
                <a:gridCol w="2260548">
                  <a:extLst>
                    <a:ext uri="{9D8B030D-6E8A-4147-A177-3AD203B41FA5}">
                      <a16:colId xmlns:a16="http://schemas.microsoft.com/office/drawing/2014/main" val="2954376665"/>
                    </a:ext>
                  </a:extLst>
                </a:gridCol>
              </a:tblGrid>
              <a:tr h="355719">
                <a:tc>
                  <a:txBody>
                    <a:bodyPr/>
                    <a:lstStyle/>
                    <a:p>
                      <a:pPr>
                        <a:buNone/>
                      </a:pPr>
                      <a:r>
                        <a:rPr lang="en-US" b="1" dirty="0"/>
                        <a:t>Connection</a:t>
                      </a:r>
                      <a:endParaRPr lang="en-US" dirty="0"/>
                    </a:p>
                  </a:txBody>
                  <a:tcPr anchor="ctr"/>
                </a:tc>
                <a:tc>
                  <a:txBody>
                    <a:bodyPr/>
                    <a:lstStyle/>
                    <a:p>
                      <a:pPr>
                        <a:buNone/>
                      </a:pPr>
                      <a:r>
                        <a:rPr lang="en-US" b="1"/>
                        <a:t>Main Proteins</a:t>
                      </a:r>
                      <a:endParaRPr lang="en-US"/>
                    </a:p>
                  </a:txBody>
                  <a:tcPr anchor="ctr"/>
                </a:tc>
                <a:tc>
                  <a:txBody>
                    <a:bodyPr/>
                    <a:lstStyle/>
                    <a:p>
                      <a:pPr>
                        <a:buNone/>
                      </a:pPr>
                      <a:r>
                        <a:rPr lang="en-US" b="1"/>
                        <a:t>Cytoskeletal Link</a:t>
                      </a:r>
                      <a:endParaRPr lang="en-US"/>
                    </a:p>
                  </a:txBody>
                  <a:tcPr anchor="ctr"/>
                </a:tc>
                <a:tc>
                  <a:txBody>
                    <a:bodyPr/>
                    <a:lstStyle/>
                    <a:p>
                      <a:pPr>
                        <a:buNone/>
                      </a:pPr>
                      <a:r>
                        <a:rPr lang="en-US" b="1"/>
                        <a:t>Function</a:t>
                      </a:r>
                      <a:endParaRPr lang="en-US"/>
                    </a:p>
                  </a:txBody>
                  <a:tcPr anchor="ctr"/>
                </a:tc>
                <a:tc>
                  <a:txBody>
                    <a:bodyPr/>
                    <a:lstStyle/>
                    <a:p>
                      <a:pPr>
                        <a:buNone/>
                      </a:pPr>
                      <a:r>
                        <a:rPr lang="en-US" b="1"/>
                        <a:t>Clinical Relevance</a:t>
                      </a:r>
                      <a:endParaRPr lang="en-US"/>
                    </a:p>
                  </a:txBody>
                  <a:tcPr anchor="ctr"/>
                </a:tc>
                <a:extLst>
                  <a:ext uri="{0D108BD9-81ED-4DB2-BD59-A6C34878D82A}">
                    <a16:rowId xmlns:a16="http://schemas.microsoft.com/office/drawing/2014/main" val="3251813227"/>
                  </a:ext>
                </a:extLst>
              </a:tr>
              <a:tr h="1140249">
                <a:tc>
                  <a:txBody>
                    <a:bodyPr/>
                    <a:lstStyle/>
                    <a:p>
                      <a:pPr>
                        <a:buNone/>
                      </a:pPr>
                      <a:r>
                        <a:rPr lang="en-US" b="1" dirty="0"/>
                        <a:t>Tight Junctions (Zonula </a:t>
                      </a:r>
                      <a:r>
                        <a:rPr lang="en-US" b="1" dirty="0" err="1"/>
                        <a:t>occludens</a:t>
                      </a:r>
                      <a:r>
                        <a:rPr lang="en-US" b="1" dirty="0"/>
                        <a:t>)</a:t>
                      </a:r>
                      <a:endParaRPr lang="en-US" dirty="0"/>
                    </a:p>
                  </a:txBody>
                  <a:tcPr anchor="ctr"/>
                </a:tc>
                <a:tc>
                  <a:txBody>
                    <a:bodyPr/>
                    <a:lstStyle/>
                    <a:p>
                      <a:pPr>
                        <a:buNone/>
                      </a:pPr>
                      <a:r>
                        <a:rPr lang="en-US"/>
                        <a:t>Claudins, Occludin, ZO-1/2/3</a:t>
                      </a:r>
                    </a:p>
                  </a:txBody>
                  <a:tcPr anchor="ctr"/>
                </a:tc>
                <a:tc>
                  <a:txBody>
                    <a:bodyPr/>
                    <a:lstStyle/>
                    <a:p>
                      <a:pPr>
                        <a:buNone/>
                      </a:pPr>
                      <a:r>
                        <a:rPr lang="en-US"/>
                        <a:t>Actin filaments</a:t>
                      </a:r>
                    </a:p>
                  </a:txBody>
                  <a:tcPr anchor="ctr"/>
                </a:tc>
                <a:tc>
                  <a:txBody>
                    <a:bodyPr/>
                    <a:lstStyle/>
                    <a:p>
                      <a:pPr>
                        <a:buNone/>
                      </a:pPr>
                      <a:r>
                        <a:rPr lang="en-US"/>
                        <a:t>Seal paracellular pathway, maintain polarity</a:t>
                      </a:r>
                    </a:p>
                  </a:txBody>
                  <a:tcPr anchor="ctr"/>
                </a:tc>
                <a:tc>
                  <a:txBody>
                    <a:bodyPr/>
                    <a:lstStyle/>
                    <a:p>
                      <a:pPr>
                        <a:buNone/>
                      </a:pPr>
                      <a:r>
                        <a:rPr lang="en-US"/>
                        <a:t>Blood–brain barrier, leaky gut, cholera toxin alters permeability</a:t>
                      </a:r>
                    </a:p>
                  </a:txBody>
                  <a:tcPr anchor="ctr"/>
                </a:tc>
                <a:extLst>
                  <a:ext uri="{0D108BD9-81ED-4DB2-BD59-A6C34878D82A}">
                    <a16:rowId xmlns:a16="http://schemas.microsoft.com/office/drawing/2014/main" val="1788313602"/>
                  </a:ext>
                </a:extLst>
              </a:tr>
              <a:tr h="1403383">
                <a:tc>
                  <a:txBody>
                    <a:bodyPr/>
                    <a:lstStyle/>
                    <a:p>
                      <a:pPr>
                        <a:buNone/>
                      </a:pPr>
                      <a:r>
                        <a:rPr lang="en-US" b="1"/>
                        <a:t>Adherens Junctions (Zonula adherens)</a:t>
                      </a:r>
                      <a:endParaRPr lang="en-US"/>
                    </a:p>
                  </a:txBody>
                  <a:tcPr anchor="ctr"/>
                </a:tc>
                <a:tc>
                  <a:txBody>
                    <a:bodyPr/>
                    <a:lstStyle/>
                    <a:p>
                      <a:pPr>
                        <a:buNone/>
                      </a:pPr>
                      <a:r>
                        <a:rPr lang="en-US" b="1"/>
                        <a:t>Cadherins</a:t>
                      </a:r>
                      <a:r>
                        <a:rPr lang="en-US"/>
                        <a:t> (E-cadherin) + Catenins</a:t>
                      </a:r>
                    </a:p>
                  </a:txBody>
                  <a:tcPr anchor="ctr"/>
                </a:tc>
                <a:tc>
                  <a:txBody>
                    <a:bodyPr/>
                    <a:lstStyle/>
                    <a:p>
                      <a:pPr>
                        <a:buNone/>
                      </a:pPr>
                      <a:r>
                        <a:rPr lang="en-US"/>
                        <a:t>Actin filaments</a:t>
                      </a:r>
                    </a:p>
                  </a:txBody>
                  <a:tcPr anchor="ctr"/>
                </a:tc>
                <a:tc>
                  <a:txBody>
                    <a:bodyPr/>
                    <a:lstStyle/>
                    <a:p>
                      <a:pPr>
                        <a:buNone/>
                      </a:pPr>
                      <a:r>
                        <a:rPr lang="en-US"/>
                        <a:t>Cell–cell adhesion, morphogenesis</a:t>
                      </a:r>
                    </a:p>
                  </a:txBody>
                  <a:tcPr anchor="ctr"/>
                </a:tc>
                <a:tc>
                  <a:txBody>
                    <a:bodyPr/>
                    <a:lstStyle/>
                    <a:p>
                      <a:pPr>
                        <a:buNone/>
                      </a:pPr>
                      <a:r>
                        <a:rPr lang="en-US"/>
                        <a:t>Loss of E-cadherin → epithelial–mesenchymal transition, cancer invasion</a:t>
                      </a:r>
                    </a:p>
                  </a:txBody>
                  <a:tcPr anchor="ctr"/>
                </a:tc>
                <a:extLst>
                  <a:ext uri="{0D108BD9-81ED-4DB2-BD59-A6C34878D82A}">
                    <a16:rowId xmlns:a16="http://schemas.microsoft.com/office/drawing/2014/main" val="2018590296"/>
                  </a:ext>
                </a:extLst>
              </a:tr>
              <a:tr h="1403383">
                <a:tc>
                  <a:txBody>
                    <a:bodyPr/>
                    <a:lstStyle/>
                    <a:p>
                      <a:pPr>
                        <a:buNone/>
                      </a:pPr>
                      <a:r>
                        <a:rPr lang="en-US" b="1"/>
                        <a:t>Desmosomes (Macula adherens)</a:t>
                      </a:r>
                      <a:endParaRPr lang="en-US"/>
                    </a:p>
                  </a:txBody>
                  <a:tcPr anchor="ctr"/>
                </a:tc>
                <a:tc>
                  <a:txBody>
                    <a:bodyPr/>
                    <a:lstStyle/>
                    <a:p>
                      <a:pPr>
                        <a:buNone/>
                      </a:pPr>
                      <a:r>
                        <a:rPr lang="en-US" b="1"/>
                        <a:t>Desmoglein, Desmocollin</a:t>
                      </a:r>
                      <a:r>
                        <a:rPr lang="en-US"/>
                        <a:t> (cadherins) + Plakoglobin, Desmoplakin</a:t>
                      </a:r>
                    </a:p>
                  </a:txBody>
                  <a:tcPr anchor="ctr"/>
                </a:tc>
                <a:tc>
                  <a:txBody>
                    <a:bodyPr/>
                    <a:lstStyle/>
                    <a:p>
                      <a:pPr>
                        <a:buNone/>
                      </a:pPr>
                      <a:r>
                        <a:rPr lang="en-US"/>
                        <a:t>Intermediate filaments (keratin)</a:t>
                      </a:r>
                    </a:p>
                  </a:txBody>
                  <a:tcPr anchor="ctr"/>
                </a:tc>
                <a:tc>
                  <a:txBody>
                    <a:bodyPr/>
                    <a:lstStyle/>
                    <a:p>
                      <a:pPr>
                        <a:buNone/>
                      </a:pPr>
                      <a:r>
                        <a:rPr lang="en-US"/>
                        <a:t>Provide mechanical strength between cells</a:t>
                      </a:r>
                    </a:p>
                  </a:txBody>
                  <a:tcPr anchor="ctr"/>
                </a:tc>
                <a:tc>
                  <a:txBody>
                    <a:bodyPr/>
                    <a:lstStyle/>
                    <a:p>
                      <a:pPr>
                        <a:buNone/>
                      </a:pPr>
                      <a:r>
                        <a:rPr lang="en-US"/>
                        <a:t>Pemphigus vulgaris (anti-desmoglein antibodies)</a:t>
                      </a:r>
                    </a:p>
                  </a:txBody>
                  <a:tcPr anchor="ctr"/>
                </a:tc>
                <a:extLst>
                  <a:ext uri="{0D108BD9-81ED-4DB2-BD59-A6C34878D82A}">
                    <a16:rowId xmlns:a16="http://schemas.microsoft.com/office/drawing/2014/main" val="3105017924"/>
                  </a:ext>
                </a:extLst>
              </a:tr>
              <a:tr h="877114">
                <a:tc>
                  <a:txBody>
                    <a:bodyPr/>
                    <a:lstStyle/>
                    <a:p>
                      <a:pPr>
                        <a:buNone/>
                      </a:pPr>
                      <a:r>
                        <a:rPr lang="en-US" b="1"/>
                        <a:t>Hemidesmosomes</a:t>
                      </a:r>
                      <a:endParaRPr lang="en-US"/>
                    </a:p>
                  </a:txBody>
                  <a:tcPr anchor="ctr"/>
                </a:tc>
                <a:tc>
                  <a:txBody>
                    <a:bodyPr/>
                    <a:lstStyle/>
                    <a:p>
                      <a:pPr>
                        <a:buNone/>
                      </a:pPr>
                      <a:r>
                        <a:rPr lang="en-US"/>
                        <a:t>Integrins (</a:t>
                      </a:r>
                      <a:r>
                        <a:rPr lang="el-GR"/>
                        <a:t>α6β4), </a:t>
                      </a:r>
                      <a:r>
                        <a:rPr lang="en-US"/>
                        <a:t>BP180, BP230</a:t>
                      </a:r>
                    </a:p>
                  </a:txBody>
                  <a:tcPr anchor="ctr"/>
                </a:tc>
                <a:tc>
                  <a:txBody>
                    <a:bodyPr/>
                    <a:lstStyle/>
                    <a:p>
                      <a:pPr>
                        <a:buNone/>
                      </a:pPr>
                      <a:r>
                        <a:rPr lang="en-US"/>
                        <a:t>Intermediate filaments (keratin)</a:t>
                      </a:r>
                    </a:p>
                  </a:txBody>
                  <a:tcPr anchor="ctr"/>
                </a:tc>
                <a:tc>
                  <a:txBody>
                    <a:bodyPr/>
                    <a:lstStyle/>
                    <a:p>
                      <a:pPr>
                        <a:buNone/>
                      </a:pPr>
                      <a:r>
                        <a:rPr lang="en-US"/>
                        <a:t>Anchor cells to basement membrane</a:t>
                      </a:r>
                    </a:p>
                  </a:txBody>
                  <a:tcPr anchor="ctr"/>
                </a:tc>
                <a:tc>
                  <a:txBody>
                    <a:bodyPr/>
                    <a:lstStyle/>
                    <a:p>
                      <a:pPr>
                        <a:buNone/>
                      </a:pPr>
                      <a:r>
                        <a:rPr lang="en-US"/>
                        <a:t>Bullous pemphigoid (autoantibodies to BP antigens)</a:t>
                      </a:r>
                    </a:p>
                  </a:txBody>
                  <a:tcPr anchor="ctr"/>
                </a:tc>
                <a:extLst>
                  <a:ext uri="{0D108BD9-81ED-4DB2-BD59-A6C34878D82A}">
                    <a16:rowId xmlns:a16="http://schemas.microsoft.com/office/drawing/2014/main" val="3839339477"/>
                  </a:ext>
                </a:extLst>
              </a:tr>
              <a:tr h="1140249">
                <a:tc>
                  <a:txBody>
                    <a:bodyPr/>
                    <a:lstStyle/>
                    <a:p>
                      <a:pPr>
                        <a:buNone/>
                      </a:pPr>
                      <a:r>
                        <a:rPr lang="en-US" b="1"/>
                        <a:t>Gap Junctions</a:t>
                      </a:r>
                      <a:endParaRPr lang="en-US"/>
                    </a:p>
                  </a:txBody>
                  <a:tcPr anchor="ctr"/>
                </a:tc>
                <a:tc>
                  <a:txBody>
                    <a:bodyPr/>
                    <a:lstStyle/>
                    <a:p>
                      <a:pPr>
                        <a:buNone/>
                      </a:pPr>
                      <a:r>
                        <a:rPr lang="en-US"/>
                        <a:t>Connexins (Cx43, Cx26, etc.)</a:t>
                      </a:r>
                    </a:p>
                  </a:txBody>
                  <a:tcPr anchor="ctr"/>
                </a:tc>
                <a:tc>
                  <a:txBody>
                    <a:bodyPr/>
                    <a:lstStyle/>
                    <a:p>
                      <a:pPr>
                        <a:buNone/>
                      </a:pPr>
                      <a:r>
                        <a:rPr lang="en-US"/>
                        <a:t>None (form direct pores)</a:t>
                      </a:r>
                    </a:p>
                  </a:txBody>
                  <a:tcPr anchor="ctr"/>
                </a:tc>
                <a:tc>
                  <a:txBody>
                    <a:bodyPr/>
                    <a:lstStyle/>
                    <a:p>
                      <a:pPr>
                        <a:buNone/>
                      </a:pPr>
                      <a:r>
                        <a:rPr lang="en-US"/>
                        <a:t>Electrical &amp; metabolic coupling between cells</a:t>
                      </a:r>
                    </a:p>
                  </a:txBody>
                  <a:tcPr anchor="ctr"/>
                </a:tc>
                <a:tc>
                  <a:txBody>
                    <a:bodyPr/>
                    <a:lstStyle/>
                    <a:p>
                      <a:pPr>
                        <a:buNone/>
                      </a:pPr>
                      <a:r>
                        <a:rPr lang="en-US" dirty="0"/>
                        <a:t>Arrhythmias, Charcot-Marie-Tooth neuropathy, congenital deafness</a:t>
                      </a:r>
                    </a:p>
                  </a:txBody>
                  <a:tcPr anchor="ctr"/>
                </a:tc>
                <a:extLst>
                  <a:ext uri="{0D108BD9-81ED-4DB2-BD59-A6C34878D82A}">
                    <a16:rowId xmlns:a16="http://schemas.microsoft.com/office/drawing/2014/main" val="1467369320"/>
                  </a:ext>
                </a:extLst>
              </a:tr>
            </a:tbl>
          </a:graphicData>
        </a:graphic>
      </p:graphicFrame>
    </p:spTree>
    <p:extLst>
      <p:ext uri="{BB962C8B-B14F-4D97-AF65-F5344CB8AC3E}">
        <p14:creationId xmlns:p14="http://schemas.microsoft.com/office/powerpoint/2010/main" val="144937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E3BBC-1E95-0A2F-3578-FA5F64A35FF6}"/>
              </a:ext>
            </a:extLst>
          </p:cNvPr>
          <p:cNvSpPr>
            <a:spLocks noGrp="1"/>
          </p:cNvSpPr>
          <p:nvPr>
            <p:ph type="title"/>
          </p:nvPr>
        </p:nvSpPr>
        <p:spPr/>
        <p:txBody>
          <a:bodyPr/>
          <a:lstStyle/>
          <a:p>
            <a:r>
              <a:rPr lang="en-US" dirty="0"/>
              <a:t> </a:t>
            </a:r>
          </a:p>
        </p:txBody>
      </p:sp>
      <p:pic>
        <p:nvPicPr>
          <p:cNvPr id="3" name="Picture 2">
            <a:extLst>
              <a:ext uri="{FF2B5EF4-FFF2-40B4-BE49-F238E27FC236}">
                <a16:creationId xmlns:a16="http://schemas.microsoft.com/office/drawing/2014/main" id="{8F5571F8-847C-C952-FF8C-88CA6E9DCA8D}"/>
              </a:ext>
            </a:extLst>
          </p:cNvPr>
          <p:cNvPicPr>
            <a:picLocks noChangeAspect="1"/>
          </p:cNvPicPr>
          <p:nvPr/>
        </p:nvPicPr>
        <p:blipFill>
          <a:blip r:embed="rId2"/>
          <a:srcRect l="2231" t="1870" r="2262" b="1876"/>
          <a:stretch>
            <a:fillRect/>
          </a:stretch>
        </p:blipFill>
        <p:spPr>
          <a:xfrm>
            <a:off x="1291473" y="1564850"/>
            <a:ext cx="9605914" cy="3883844"/>
          </a:xfrm>
          <a:prstGeom prst="rect">
            <a:avLst/>
          </a:prstGeom>
        </p:spPr>
      </p:pic>
    </p:spTree>
    <p:extLst>
      <p:ext uri="{BB962C8B-B14F-4D97-AF65-F5344CB8AC3E}">
        <p14:creationId xmlns:p14="http://schemas.microsoft.com/office/powerpoint/2010/main" val="3839053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3F895-D710-5D09-4437-EA7BAAB234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744351-150E-23AE-D120-0C6E63F709DA}"/>
              </a:ext>
            </a:extLst>
          </p:cNvPr>
          <p:cNvSpPr>
            <a:spLocks noGrp="1"/>
          </p:cNvSpPr>
          <p:nvPr>
            <p:ph type="title"/>
          </p:nvPr>
        </p:nvSpPr>
        <p:spPr>
          <a:xfrm>
            <a:off x="838200" y="2766218"/>
            <a:ext cx="10515600" cy="1325563"/>
          </a:xfrm>
        </p:spPr>
        <p:txBody>
          <a:bodyPr>
            <a:normAutofit/>
          </a:bodyPr>
          <a:lstStyle/>
          <a:p>
            <a:pPr algn="ctr"/>
            <a:r>
              <a:rPr lang="en-US" sz="4800" b="1" dirty="0"/>
              <a:t>Recent Advances</a:t>
            </a:r>
          </a:p>
        </p:txBody>
      </p:sp>
    </p:spTree>
    <p:extLst>
      <p:ext uri="{BB962C8B-B14F-4D97-AF65-F5344CB8AC3E}">
        <p14:creationId xmlns:p14="http://schemas.microsoft.com/office/powerpoint/2010/main" val="3160088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8769-8EFD-1CE1-0A21-52979B5E35B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3B1A59B-4684-B662-60A0-8970D8B8CC56}"/>
              </a:ext>
            </a:extLst>
          </p:cNvPr>
          <p:cNvSpPr>
            <a:spLocks noGrp="1"/>
          </p:cNvSpPr>
          <p:nvPr>
            <p:ph idx="1"/>
          </p:nvPr>
        </p:nvSpPr>
        <p:spPr>
          <a:xfrm>
            <a:off x="838200" y="622170"/>
            <a:ext cx="10515600" cy="5731496"/>
          </a:xfrm>
        </p:spPr>
        <p:txBody>
          <a:bodyPr>
            <a:normAutofit fontScale="92500" lnSpcReduction="10000"/>
          </a:bodyPr>
          <a:lstStyle/>
          <a:p>
            <a:r>
              <a:rPr lang="en-US" b="1" dirty="0"/>
              <a:t>Structural Biology: </a:t>
            </a:r>
            <a:r>
              <a:rPr lang="en-US" dirty="0"/>
              <a:t>Cryo-EM &amp; super-resolution imaging reveal atomic details of claudins, connexins, integrins.</a:t>
            </a:r>
          </a:p>
          <a:p>
            <a:r>
              <a:rPr lang="en-US" b="1" dirty="0"/>
              <a:t>Cancer Biology:  </a:t>
            </a:r>
            <a:r>
              <a:rPr lang="en-US" dirty="0"/>
              <a:t>E-cadherin loss drives EMT; integrin inhibitors &amp; cadherin-mimetics explored as anti-metastatic therapies.</a:t>
            </a:r>
          </a:p>
          <a:p>
            <a:r>
              <a:rPr lang="en-US" b="1" dirty="0"/>
              <a:t>Immunology: </a:t>
            </a:r>
            <a:r>
              <a:rPr lang="en-US" dirty="0"/>
              <a:t>Integrin-targeting </a:t>
            </a:r>
            <a:r>
              <a:rPr lang="en-US" dirty="0" err="1"/>
              <a:t>mAbs</a:t>
            </a:r>
            <a:r>
              <a:rPr lang="en-US" dirty="0"/>
              <a:t> (natalizumab, vedolizumab) in MS/IBD; selectin blockers in trials for inflammation.</a:t>
            </a:r>
          </a:p>
          <a:p>
            <a:r>
              <a:rPr lang="en-US" b="1" dirty="0"/>
              <a:t>Neuroscience: </a:t>
            </a:r>
            <a:r>
              <a:rPr lang="en-US" dirty="0"/>
              <a:t>Connexin modulators (gap junction drugs) tested for epilepsy &amp; neurodegeneration; NCAM in neural repair.</a:t>
            </a:r>
          </a:p>
          <a:p>
            <a:r>
              <a:rPr lang="en-US" b="1" dirty="0"/>
              <a:t>Regenerative Medicine: </a:t>
            </a:r>
            <a:r>
              <a:rPr lang="en-US" dirty="0"/>
              <a:t>Stem-cell organoids and 3D bioprinting rely on cadherin/integrin engineering for polarity &amp; vascularization.</a:t>
            </a:r>
          </a:p>
          <a:p>
            <a:r>
              <a:rPr lang="en-US" b="1" dirty="0"/>
              <a:t>Genomics &amp; CRISPR: </a:t>
            </a:r>
            <a:r>
              <a:rPr lang="en-US" dirty="0"/>
              <a:t>Correction of CAM mutations (e.g., CDH1, ITGB2) for hereditary cancers &amp; immunodeficiencies.</a:t>
            </a:r>
          </a:p>
          <a:p>
            <a:r>
              <a:rPr lang="en-US" b="1" dirty="0"/>
              <a:t>Nanomedicine: </a:t>
            </a:r>
            <a:r>
              <a:rPr lang="en-US" dirty="0"/>
              <a:t>Integrin-targeted nanoparticles for drug delivery; selectin-coated platforms to trap circulating tumor cells.</a:t>
            </a:r>
          </a:p>
        </p:txBody>
      </p:sp>
    </p:spTree>
    <p:extLst>
      <p:ext uri="{BB962C8B-B14F-4D97-AF65-F5344CB8AC3E}">
        <p14:creationId xmlns:p14="http://schemas.microsoft.com/office/powerpoint/2010/main" val="1064748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C1C149-3688-487A-24F1-62880DAADB35}"/>
              </a:ext>
            </a:extLst>
          </p:cNvPr>
          <p:cNvSpPr>
            <a:spLocks noGrp="1"/>
          </p:cNvSpPr>
          <p:nvPr>
            <p:ph type="title"/>
          </p:nvPr>
        </p:nvSpPr>
        <p:spPr/>
        <p:txBody>
          <a:bodyPr/>
          <a:lstStyle/>
          <a:p>
            <a:r>
              <a:rPr lang="en-US" dirty="0"/>
              <a:t>References</a:t>
            </a:r>
          </a:p>
        </p:txBody>
      </p:sp>
      <p:sp>
        <p:nvSpPr>
          <p:cNvPr id="4" name="Content Placeholder 3">
            <a:extLst>
              <a:ext uri="{FF2B5EF4-FFF2-40B4-BE49-F238E27FC236}">
                <a16:creationId xmlns:a16="http://schemas.microsoft.com/office/drawing/2014/main" id="{20398265-F94C-8E07-D248-03788D586663}"/>
              </a:ext>
            </a:extLst>
          </p:cNvPr>
          <p:cNvSpPr>
            <a:spLocks noGrp="1"/>
          </p:cNvSpPr>
          <p:nvPr>
            <p:ph idx="1"/>
          </p:nvPr>
        </p:nvSpPr>
        <p:spPr>
          <a:xfrm>
            <a:off x="838200" y="1555423"/>
            <a:ext cx="10515600" cy="4621540"/>
          </a:xfrm>
        </p:spPr>
        <p:txBody>
          <a:bodyPr>
            <a:normAutofit fontScale="62500" lnSpcReduction="20000"/>
          </a:bodyPr>
          <a:lstStyle/>
          <a:p>
            <a:pPr>
              <a:buFont typeface="+mj-lt"/>
              <a:buAutoNum type="arabicPeriod"/>
            </a:pPr>
            <a:r>
              <a:rPr lang="en-US" dirty="0"/>
              <a:t>Alberts B, Johnson A, Lewis J, Morgan D, Raff M, Roberts K, Walter P. </a:t>
            </a:r>
            <a:r>
              <a:rPr lang="en-US" i="1" dirty="0"/>
              <a:t>Molecular Biology of the Cell</a:t>
            </a:r>
            <a:r>
              <a:rPr lang="en-US" dirty="0"/>
              <a:t>. 6th ed. New York: Garland Science; 2015.</a:t>
            </a:r>
          </a:p>
          <a:p>
            <a:pPr>
              <a:buFont typeface="+mj-lt"/>
              <a:buAutoNum type="arabicPeriod"/>
            </a:pPr>
            <a:r>
              <a:rPr lang="en-US" dirty="0"/>
              <a:t>Farquhar MG, Palade GE. Junctional complexes in various epithelia. </a:t>
            </a:r>
            <a:r>
              <a:rPr lang="en-US" i="1" dirty="0"/>
              <a:t>J Cell Biol</a:t>
            </a:r>
            <a:r>
              <a:rPr lang="en-US" dirty="0"/>
              <a:t>. 1963;17:375–412.</a:t>
            </a:r>
          </a:p>
          <a:p>
            <a:pPr>
              <a:buFont typeface="+mj-lt"/>
              <a:buAutoNum type="arabicPeriod"/>
            </a:pPr>
            <a:r>
              <a:rPr lang="en-US" dirty="0"/>
              <a:t>Revel JP, </a:t>
            </a:r>
            <a:r>
              <a:rPr lang="en-US" dirty="0" err="1"/>
              <a:t>Karnovsky</a:t>
            </a:r>
            <a:r>
              <a:rPr lang="en-US" dirty="0"/>
              <a:t> MJ. Hexagonal array of subunits in intercellular junctions of the mouse heart and liver. </a:t>
            </a:r>
            <a:r>
              <a:rPr lang="en-US" i="1" dirty="0"/>
              <a:t>J Cell Biol</a:t>
            </a:r>
            <a:r>
              <a:rPr lang="en-US" dirty="0"/>
              <a:t>. 1967;33(3):C7–C12.</a:t>
            </a:r>
          </a:p>
          <a:p>
            <a:pPr>
              <a:buFont typeface="+mj-lt"/>
              <a:buAutoNum type="arabicPeriod"/>
            </a:pPr>
            <a:r>
              <a:rPr lang="en-US" dirty="0"/>
              <a:t>Takeichi M. Cadherins in cancer: Implications for invasion and metastasis. </a:t>
            </a:r>
            <a:r>
              <a:rPr lang="en-US" i="1" dirty="0"/>
              <a:t>Curr </a:t>
            </a:r>
            <a:r>
              <a:rPr lang="en-US" i="1" dirty="0" err="1"/>
              <a:t>Opin</a:t>
            </a:r>
            <a:r>
              <a:rPr lang="en-US" i="1" dirty="0"/>
              <a:t> Cell Biol</a:t>
            </a:r>
            <a:r>
              <a:rPr lang="en-US" dirty="0"/>
              <a:t>. 1993;5(5):806–11.</a:t>
            </a:r>
          </a:p>
          <a:p>
            <a:pPr>
              <a:buFont typeface="+mj-lt"/>
              <a:buAutoNum type="arabicPeriod"/>
            </a:pPr>
            <a:r>
              <a:rPr lang="en-US" dirty="0"/>
              <a:t>Hynes RO. Integrins: Bidirectional, allosteric signaling machines. </a:t>
            </a:r>
            <a:r>
              <a:rPr lang="en-US" i="1" dirty="0"/>
              <a:t>Cell</a:t>
            </a:r>
            <a:r>
              <a:rPr lang="en-US" dirty="0"/>
              <a:t>. 2002;110(6):673–87.</a:t>
            </a:r>
          </a:p>
          <a:p>
            <a:pPr>
              <a:buFont typeface="+mj-lt"/>
              <a:buAutoNum type="arabicPeriod"/>
            </a:pPr>
            <a:r>
              <a:rPr lang="en-US" dirty="0"/>
              <a:t>Springer TA. Adhesion receptors of the immune system. </a:t>
            </a:r>
            <a:r>
              <a:rPr lang="en-US" i="1" dirty="0"/>
              <a:t>Nature</a:t>
            </a:r>
            <a:r>
              <a:rPr lang="en-US" dirty="0"/>
              <a:t>. 1990;346(6283):425–34.</a:t>
            </a:r>
          </a:p>
          <a:p>
            <a:pPr>
              <a:buFont typeface="+mj-lt"/>
              <a:buAutoNum type="arabicPeriod"/>
            </a:pPr>
            <a:r>
              <a:rPr lang="en-US" dirty="0"/>
              <a:t>Goodenough DA, Paul DL. Gap junctions. </a:t>
            </a:r>
            <a:r>
              <a:rPr lang="en-US" i="1" dirty="0"/>
              <a:t>Cold Spring Harb </a:t>
            </a:r>
            <a:r>
              <a:rPr lang="en-US" i="1" dirty="0" err="1"/>
              <a:t>Perspect</a:t>
            </a:r>
            <a:r>
              <a:rPr lang="en-US" i="1" dirty="0"/>
              <a:t> Biol</a:t>
            </a:r>
            <a:r>
              <a:rPr lang="en-US" dirty="0"/>
              <a:t>. 2009;1(1):a002576.</a:t>
            </a:r>
          </a:p>
          <a:p>
            <a:pPr>
              <a:buFont typeface="+mj-lt"/>
              <a:buAutoNum type="arabicPeriod"/>
            </a:pPr>
            <a:r>
              <a:rPr lang="en-US" dirty="0" err="1"/>
              <a:t>Lampugnani</a:t>
            </a:r>
            <a:r>
              <a:rPr lang="en-US" dirty="0"/>
              <a:t> MG, Dejana E. </a:t>
            </a:r>
            <a:r>
              <a:rPr lang="en-US" dirty="0" err="1"/>
              <a:t>Adherens</a:t>
            </a:r>
            <a:r>
              <a:rPr lang="en-US" dirty="0"/>
              <a:t> junctions in endothelial cells regulate vessel maintenance and angiogenesis. </a:t>
            </a:r>
            <a:r>
              <a:rPr lang="en-US" i="1" dirty="0" err="1"/>
              <a:t>Thromb</a:t>
            </a:r>
            <a:r>
              <a:rPr lang="en-US" i="1" dirty="0"/>
              <a:t> Res</a:t>
            </a:r>
            <a:r>
              <a:rPr lang="en-US" dirty="0"/>
              <a:t>. 2007;120 Suppl 2:S1–6.</a:t>
            </a:r>
          </a:p>
          <a:p>
            <a:pPr>
              <a:buFont typeface="+mj-lt"/>
              <a:buAutoNum type="arabicPeriod"/>
            </a:pPr>
            <a:r>
              <a:rPr lang="en-US" dirty="0"/>
              <a:t>Humphries JD, Byron A, Humphries MJ. Integrin ligands at a glance. </a:t>
            </a:r>
            <a:r>
              <a:rPr lang="en-US" i="1" dirty="0"/>
              <a:t>J Cell Sci</a:t>
            </a:r>
            <a:r>
              <a:rPr lang="en-US" dirty="0"/>
              <a:t>. 2006;119(Pt 19):3901–3.</a:t>
            </a:r>
          </a:p>
          <a:p>
            <a:pPr>
              <a:buFont typeface="+mj-lt"/>
              <a:buAutoNum type="arabicPeriod"/>
            </a:pPr>
            <a:r>
              <a:rPr lang="en-US" dirty="0" err="1"/>
              <a:t>Rübsam</a:t>
            </a:r>
            <a:r>
              <a:rPr lang="en-US" dirty="0"/>
              <a:t> M, Broussard JA, Wickström SA, Nekrasova O, Green KJ, Niessen CM. </a:t>
            </a:r>
            <a:r>
              <a:rPr lang="en-US" dirty="0" err="1"/>
              <a:t>Adherens</a:t>
            </a:r>
            <a:r>
              <a:rPr lang="en-US" dirty="0"/>
              <a:t> junctions and desmosomes coordinate mechanics and signaling to orchestrate tissue morphogenesis and function: An evolutionary perspective. </a:t>
            </a:r>
            <a:r>
              <a:rPr lang="en-US" i="1" dirty="0"/>
              <a:t>Cold Spring Harb </a:t>
            </a:r>
            <a:r>
              <a:rPr lang="en-US" i="1" dirty="0" err="1"/>
              <a:t>Perspect</a:t>
            </a:r>
            <a:r>
              <a:rPr lang="en-US" i="1" dirty="0"/>
              <a:t> Biol</a:t>
            </a:r>
            <a:r>
              <a:rPr lang="en-US" dirty="0"/>
              <a:t>. 2018;10(11):a029207.</a:t>
            </a:r>
          </a:p>
          <a:p>
            <a:pPr marL="0" indent="0">
              <a:buNone/>
            </a:pPr>
            <a:endParaRPr lang="en-US" dirty="0"/>
          </a:p>
        </p:txBody>
      </p:sp>
    </p:spTree>
    <p:extLst>
      <p:ext uri="{BB962C8B-B14F-4D97-AF65-F5344CB8AC3E}">
        <p14:creationId xmlns:p14="http://schemas.microsoft.com/office/powerpoint/2010/main" val="1799453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348B-B182-F21E-7297-E81C190FA680}"/>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3" name="Content Placeholder 2">
            <a:extLst>
              <a:ext uri="{FF2B5EF4-FFF2-40B4-BE49-F238E27FC236}">
                <a16:creationId xmlns:a16="http://schemas.microsoft.com/office/drawing/2014/main" id="{3B6F979E-95B0-31BA-FE10-BCD3EF765639}"/>
              </a:ext>
            </a:extLst>
          </p:cNvPr>
          <p:cNvSpPr>
            <a:spLocks noGrp="1"/>
          </p:cNvSpPr>
          <p:nvPr>
            <p:ph idx="1"/>
          </p:nvPr>
        </p:nvSpPr>
        <p:spPr/>
        <p:txBody>
          <a:bodyPr/>
          <a:lstStyle/>
          <a:p>
            <a:pPr marL="0" indent="0">
              <a:buNone/>
            </a:pPr>
            <a:r>
              <a:rPr lang="en-US" dirty="0"/>
              <a:t> </a:t>
            </a:r>
          </a:p>
        </p:txBody>
      </p:sp>
    </p:spTree>
    <p:extLst>
      <p:ext uri="{BB962C8B-B14F-4D97-AF65-F5344CB8AC3E}">
        <p14:creationId xmlns:p14="http://schemas.microsoft.com/office/powerpoint/2010/main" val="27185062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263</TotalTime>
  <Words>1351</Words>
  <Application>Microsoft Office PowerPoint</Application>
  <PresentationFormat>Widescreen</PresentationFormat>
  <Paragraphs>144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Intercellular Connections and Cell Adhesion Molecules </vt:lpstr>
      <vt:lpstr>Contents</vt:lpstr>
      <vt:lpstr>Case Scenarios</vt:lpstr>
      <vt:lpstr> </vt:lpstr>
      <vt:lpstr> </vt:lpstr>
      <vt:lpstr>History</vt:lpstr>
      <vt:lpstr> </vt:lpstr>
      <vt:lpstr>Cell Adhesion Molecules (CAMs)</vt:lpstr>
      <vt:lpstr> </vt:lpstr>
      <vt:lpstr> </vt:lpstr>
      <vt:lpstr> </vt:lpstr>
      <vt:lpstr>Recent Advances</vt:lpstr>
      <vt:lpstr>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Akhil Raj Kumar Yerra</dc:creator>
  <cp:lastModifiedBy>Vishnu Akhil Raj Kumar Yerra</cp:lastModifiedBy>
  <cp:revision>27</cp:revision>
  <dcterms:created xsi:type="dcterms:W3CDTF">2025-06-03T08:22:01Z</dcterms:created>
  <dcterms:modified xsi:type="dcterms:W3CDTF">2025-09-23T04:19:49Z</dcterms:modified>
</cp:coreProperties>
</file>