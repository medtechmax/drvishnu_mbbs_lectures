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77" r:id="rId4"/>
    <p:sldId id="305" r:id="rId5"/>
    <p:sldId id="306" r:id="rId6"/>
    <p:sldId id="307" r:id="rId7"/>
    <p:sldId id="309" r:id="rId8"/>
    <p:sldId id="310" r:id="rId9"/>
    <p:sldId id="311" r:id="rId10"/>
    <p:sldId id="258" r:id="rId11"/>
    <p:sldId id="312" r:id="rId12"/>
    <p:sldId id="278" r:id="rId13"/>
    <p:sldId id="319" r:id="rId14"/>
    <p:sldId id="314" r:id="rId15"/>
    <p:sldId id="313" r:id="rId16"/>
    <p:sldId id="318" r:id="rId17"/>
    <p:sldId id="315" r:id="rId18"/>
    <p:sldId id="317" r:id="rId19"/>
    <p:sldId id="316" r:id="rId20"/>
    <p:sldId id="322" r:id="rId21"/>
    <p:sldId id="282" r:id="rId22"/>
    <p:sldId id="320" r:id="rId23"/>
    <p:sldId id="321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26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2:16:2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2 202 32143,'100'-200'0,"0"400"0,-200-400 0,100 8655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2:16:31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0 32694,'0'8696'0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2:16:3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32518,'4845'0'0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2:16:4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32597,'4561'0'0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2:16:4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25061,'0'0'7640,"3"0"-7632,1776-33 41,-1269 9-49,569-23 0,-67-9 0,-909 45 6,-16 2-4,95 1-1,-176 8-1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C6C5D-639D-4096-AC47-5309756DA19D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ECBFE-AC86-4FF6-803B-076860382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2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44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41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04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44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1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15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98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84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91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CBFE-AC86-4FF6-803B-0768603820D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2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4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1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5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7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8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2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9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4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6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6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FE413-E71D-4C27-874E-E303A545A875}" type="datetimeFigureOut">
              <a:rPr lang="en-US" smtClean="0"/>
              <a:t>01-Nov-25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71B62-4AA1-4BFD-B70F-8F7D70288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4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97AD-C529-07CC-2F63-111DBCBFA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Functional </a:t>
            </a:r>
            <a:r>
              <a:rPr lang="en-US" sz="4800" b="1" dirty="0" err="1"/>
              <a:t>Organisation</a:t>
            </a:r>
            <a:r>
              <a:rPr lang="en-US" sz="4800" b="1" dirty="0"/>
              <a:t> of Skeletal Muscle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E8FDC-A207-7976-72B5-0327516B4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1148"/>
            <a:ext cx="9144000" cy="1780666"/>
          </a:xfrm>
        </p:spPr>
        <p:txBody>
          <a:bodyPr>
            <a:normAutofit fontScale="62500" lnSpcReduction="20000"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01-11-2025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Yerra Vishnu Akhil Raj Kumar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Resident, AIIMS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Bibinagar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MBBS- AIIMS Patna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Bio-Design Fellow- IIT Hyderabad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Physiology- AIIMS Raipur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7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B820-9BDD-6C38-D0AE-89A1750D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CAC8-48F9-FACF-E62D-F617886B0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Scenario</a:t>
            </a:r>
          </a:p>
          <a:p>
            <a:r>
              <a:rPr lang="en-US" dirty="0"/>
              <a:t>History</a:t>
            </a:r>
          </a:p>
          <a:p>
            <a:r>
              <a:rPr lang="en-US" dirty="0"/>
              <a:t>Main Topic-1</a:t>
            </a:r>
          </a:p>
          <a:p>
            <a:r>
              <a:rPr lang="en-US" dirty="0"/>
              <a:t>Main Topic-2</a:t>
            </a:r>
          </a:p>
          <a:p>
            <a:r>
              <a:rPr lang="en-US" dirty="0"/>
              <a:t>Recent Advances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2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FD0CF-E1FB-96A8-3424-BC597DE9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68F71-4371-E214-BF7D-888AE2A2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Case Scenario</a:t>
            </a:r>
          </a:p>
        </p:txBody>
      </p:sp>
    </p:spTree>
    <p:extLst>
      <p:ext uri="{BB962C8B-B14F-4D97-AF65-F5344CB8AC3E}">
        <p14:creationId xmlns:p14="http://schemas.microsoft.com/office/powerpoint/2010/main" val="262036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B7AC8F-49C7-DFFE-1501-99B882E3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0F6C8-75B4-658B-7A57-2EE48A7AD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7-year-old boy is brought by his parents with complaints of progressive difficulty in climbing stairs and rising from the floor. The child walks with a waddling gait and often falls while running. Parents noticed that he uses his hands to push himself upright from a squatting position (Gower’s sign positive).</a:t>
            </a:r>
          </a:p>
          <a:p>
            <a:pPr marL="0" indent="0">
              <a:buNone/>
            </a:pPr>
            <a:r>
              <a:rPr lang="en-US" dirty="0"/>
              <a:t>No sensory loss, no sphincter disturbance. Antenatal and birth history normal. No history of perinatal asphyxia.</a:t>
            </a:r>
            <a:br>
              <a:rPr lang="en-US" dirty="0"/>
            </a:br>
            <a:r>
              <a:rPr lang="en-US" dirty="0"/>
              <a:t>Family history: maternal uncle with similar symptoms in childhood.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3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3D57-E5F7-A4D3-D886-2F7EF783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Investigations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6D1F0-F010-BB3A-E2BA-974F6B248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Serum CPK: ↑↑ (10× normal)</a:t>
            </a:r>
          </a:p>
          <a:p>
            <a:r>
              <a:rPr lang="en-US" dirty="0"/>
              <a:t>EMG: Myopathic pattern (small, polyphasic potentials)</a:t>
            </a:r>
          </a:p>
          <a:p>
            <a:r>
              <a:rPr lang="en-US" dirty="0"/>
              <a:t>Muscle biopsy: Degenerating fibers, fibrosis, fat infiltration</a:t>
            </a:r>
          </a:p>
          <a:p>
            <a:r>
              <a:rPr lang="en-US" dirty="0"/>
              <a:t>Genetic testing: Dystrophin gene deletion on Xp21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381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F1A6-5871-B0A0-2DA7-852DD52D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520F-036D-4DAB-3905-D30545E73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48627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General:</a:t>
            </a:r>
            <a:r>
              <a:rPr lang="en-US" dirty="0"/>
              <a:t> Alert, thin upper limbs with bulky calves (pseudohypertrophy).</a:t>
            </a:r>
          </a:p>
          <a:p>
            <a:r>
              <a:rPr lang="en-US" b="1" dirty="0"/>
              <a:t>Gait:</a:t>
            </a:r>
            <a:r>
              <a:rPr lang="en-US" dirty="0"/>
              <a:t> Waddling.</a:t>
            </a:r>
          </a:p>
          <a:p>
            <a:r>
              <a:rPr lang="en-US" b="1" dirty="0"/>
              <a:t>Posture:</a:t>
            </a:r>
            <a:r>
              <a:rPr lang="en-US" dirty="0"/>
              <a:t> Lumbar lordosis.</a:t>
            </a:r>
          </a:p>
          <a:p>
            <a:r>
              <a:rPr lang="en-US" b="1" dirty="0"/>
              <a:t>Muscle power:</a:t>
            </a:r>
            <a:r>
              <a:rPr lang="en-US" dirty="0"/>
              <a:t> Proximal &gt; distal weakness (especially hip and shoulder girdles).</a:t>
            </a:r>
          </a:p>
          <a:p>
            <a:r>
              <a:rPr lang="en-US" b="1" dirty="0"/>
              <a:t>Tone:</a:t>
            </a:r>
            <a:r>
              <a:rPr lang="en-US" dirty="0"/>
              <a:t> Mildly decreased.</a:t>
            </a:r>
          </a:p>
          <a:p>
            <a:r>
              <a:rPr lang="en-US" b="1" dirty="0"/>
              <a:t>Reflexes:</a:t>
            </a:r>
            <a:r>
              <a:rPr lang="en-US" dirty="0"/>
              <a:t> Diminished deep tendon reflexes in lower limbs.</a:t>
            </a:r>
          </a:p>
          <a:p>
            <a:r>
              <a:rPr lang="en-US" b="1" dirty="0"/>
              <a:t>Sensory:</a:t>
            </a:r>
            <a:r>
              <a:rPr lang="en-US" dirty="0"/>
              <a:t> Intact.</a:t>
            </a:r>
          </a:p>
          <a:p>
            <a:r>
              <a:rPr lang="en-US" b="1" dirty="0"/>
              <a:t>Other systems:</a:t>
            </a:r>
            <a:r>
              <a:rPr lang="en-US" dirty="0"/>
              <a:t> Normal.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15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1052-7049-7B63-75FB-F5607E3D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CB2B8-F0F6-411C-870E-0D1BE213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Explain the normal role of dystrophin in maintaining muscle fiber integrity.</a:t>
            </a:r>
          </a:p>
          <a:p>
            <a:pPr marL="514350" indent="-514350">
              <a:buAutoNum type="arabicPeriod"/>
            </a:pPr>
            <a:r>
              <a:rPr lang="en-US" dirty="0"/>
              <a:t>Describe the </a:t>
            </a:r>
            <a:r>
              <a:rPr lang="en-US" b="1" dirty="0"/>
              <a:t>sarcomere zones</a:t>
            </a:r>
            <a:r>
              <a:rPr lang="en-US" dirty="0"/>
              <a:t> (A-band, I-band, H-zone, M-line, Z-line) and explain what happens to each during contraction.</a:t>
            </a:r>
          </a:p>
          <a:p>
            <a:pPr marL="514350" indent="-514350">
              <a:buAutoNum type="arabicPeriod"/>
            </a:pPr>
            <a:r>
              <a:rPr lang="en-US" dirty="0"/>
              <a:t>What is the physiological rationale behind </a:t>
            </a:r>
            <a:r>
              <a:rPr lang="en-US" b="1" dirty="0"/>
              <a:t>steroid therapy and gene-editing approaches</a:t>
            </a:r>
            <a:r>
              <a:rPr lang="en-US" dirty="0"/>
              <a:t> in DMD?</a:t>
            </a:r>
          </a:p>
        </p:txBody>
      </p:sp>
    </p:spTree>
    <p:extLst>
      <p:ext uri="{BB962C8B-B14F-4D97-AF65-F5344CB8AC3E}">
        <p14:creationId xmlns:p14="http://schemas.microsoft.com/office/powerpoint/2010/main" val="370041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5334-D29E-01C3-2479-29213929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uchenne Muscular Dystrophy in a Female Child with Turner syndrome: A Case report">
            <a:extLst>
              <a:ext uri="{FF2B5EF4-FFF2-40B4-BE49-F238E27FC236}">
                <a16:creationId xmlns:a16="http://schemas.microsoft.com/office/drawing/2014/main" id="{9B942D56-32D8-8C48-A6A0-E9A0809E24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029" y="1078264"/>
            <a:ext cx="3189942" cy="456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62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5AAD-9C4C-7CBD-E8AD-FC55E24E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2B73-55E5-963E-349D-7E2D2FE1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351" y="2656340"/>
            <a:ext cx="6731584" cy="22480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CB54482-D45C-6C4B-71A3-27E5D1478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624" y="533400"/>
            <a:ext cx="39624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UCHENNE MUSCULAR DYSTROPHY(DMD) – ORD India">
            <a:extLst>
              <a:ext uri="{FF2B5EF4-FFF2-40B4-BE49-F238E27FC236}">
                <a16:creationId xmlns:a16="http://schemas.microsoft.com/office/drawing/2014/main" id="{7CB5BD81-9BB5-61AE-7E57-CF046BA84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839" y="1302013"/>
            <a:ext cx="4664549" cy="390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64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0275D4-AFA7-C6EE-B761-32F7B55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14568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AE83-AEBE-6201-C421-0B987E42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975F-25AA-CE7A-5BF9-0175BF0F8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7"/>
            <a:ext cx="10515600" cy="581183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Wilhelm Kühne (1880s):</a:t>
            </a:r>
            <a:r>
              <a:rPr lang="en-US" dirty="0"/>
              <a:t> First isolated myosin, introducing the concept of contractile proteins in muscle.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Andrew F. Huxley &amp; Hugh Huxley (1954):</a:t>
            </a:r>
            <a:r>
              <a:rPr lang="en-US" dirty="0"/>
              <a:t> Proposed the Sliding Filament Theory, explaining sarcomere shortening by actin–myosin interaction.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Kendrick and Offer (1970s):</a:t>
            </a:r>
            <a:r>
              <a:rPr lang="en-US" dirty="0"/>
              <a:t> Discovered titin and nebulin, giant proteins maintaining elasticity and filament alignment.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Louis Kunkel (1987):</a:t>
            </a:r>
            <a:r>
              <a:rPr lang="en-US" dirty="0"/>
              <a:t> Identified the dystrophin gene mutation as the cause of Duchenne Muscular Dystrophy, linking genetics to muscle physiology.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3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A49F8-9B24-566C-D3D7-4814420B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667FD8-77F6-B73E-13BE-3099FBF5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Functional Organization of Skeletal Muscle</a:t>
            </a:r>
          </a:p>
        </p:txBody>
      </p:sp>
    </p:spTree>
    <p:extLst>
      <p:ext uri="{BB962C8B-B14F-4D97-AF65-F5344CB8AC3E}">
        <p14:creationId xmlns:p14="http://schemas.microsoft.com/office/powerpoint/2010/main" val="118613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F695-93A2-DAE0-0FC0-62DF1287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E72ED-CE87-244E-242D-B956FEB74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4" t="5324" r="6049" b="17389"/>
          <a:stretch>
            <a:fillRect/>
          </a:stretch>
        </p:blipFill>
        <p:spPr>
          <a:xfrm>
            <a:off x="2073896" y="365127"/>
            <a:ext cx="8041065" cy="53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86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C614F-13F3-CEC3-7221-7D8CB496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122" name="Picture 2" descr="Electron microscopy image of a striated muscle sarcomere. Most of the... |  Download Scientific Diagram">
            <a:extLst>
              <a:ext uri="{FF2B5EF4-FFF2-40B4-BE49-F238E27FC236}">
                <a16:creationId xmlns:a16="http://schemas.microsoft.com/office/drawing/2014/main" id="{F0A54D00-5D8F-CF1D-4502-D2FD43A46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129" y="168914"/>
            <a:ext cx="3713277" cy="232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3F42E7-97CE-CB23-D257-D18036520869}"/>
                  </a:ext>
                </a:extLst>
              </p14:cNvPr>
              <p14:cNvContentPartPr/>
              <p14:nvPr/>
            </p14:nvContentPartPr>
            <p14:xfrm>
              <a:off x="3521153" y="3097425"/>
              <a:ext cx="72360" cy="3044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3F42E7-97CE-CB23-D257-D180365208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2153" y="3088425"/>
                <a:ext cx="90000" cy="30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D8231F4-9AC5-295F-34D0-A49D179F02BC}"/>
                  </a:ext>
                </a:extLst>
              </p14:cNvPr>
              <p14:cNvContentPartPr/>
              <p14:nvPr/>
            </p14:nvContentPartPr>
            <p14:xfrm>
              <a:off x="8149673" y="3102465"/>
              <a:ext cx="720" cy="3130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D8231F4-9AC5-295F-34D0-A49D179F02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1673" y="3093465"/>
                <a:ext cx="36000" cy="31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BFD7D0-13C8-800D-1D8E-49AE91E3B787}"/>
                  </a:ext>
                </a:extLst>
              </p14:cNvPr>
              <p14:cNvContentPartPr/>
              <p14:nvPr/>
            </p14:nvContentPartPr>
            <p14:xfrm>
              <a:off x="3584873" y="3512865"/>
              <a:ext cx="1744560" cy="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BFD7D0-13C8-800D-1D8E-49AE91E3B7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76233" y="3494865"/>
                <a:ext cx="1762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BA54FB-B12A-C9DA-D209-0E860D7F238B}"/>
                  </a:ext>
                </a:extLst>
              </p14:cNvPr>
              <p14:cNvContentPartPr/>
              <p14:nvPr/>
            </p14:nvContentPartPr>
            <p14:xfrm>
              <a:off x="6461633" y="3517905"/>
              <a:ext cx="1642320" cy="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BA54FB-B12A-C9DA-D209-0E860D7F238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52633" y="3499905"/>
                <a:ext cx="165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0AA1AB8-E5C7-10FE-0D31-35A0DCBAB4CA}"/>
                  </a:ext>
                </a:extLst>
              </p14:cNvPr>
              <p14:cNvContentPartPr/>
              <p14:nvPr/>
            </p14:nvContentPartPr>
            <p14:xfrm>
              <a:off x="3587393" y="3943785"/>
              <a:ext cx="1714320" cy="68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0AA1AB8-E5C7-10FE-0D31-35A0DCBAB4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78393" y="3935145"/>
                <a:ext cx="1731960" cy="8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4792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F409-D1B2-0F9D-E9BB-6C45FB03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098" name="Picture 2" descr="19.4 Muscle Contraction and Locomotion – Concepts of Biology – 1st Canadian  Edition">
            <a:extLst>
              <a:ext uri="{FF2B5EF4-FFF2-40B4-BE49-F238E27FC236}">
                <a16:creationId xmlns:a16="http://schemas.microsoft.com/office/drawing/2014/main" id="{DBA59256-DF7D-B0FE-72AC-AAE594E59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21" y="365127"/>
            <a:ext cx="6257958" cy="561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667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94AC-6F3A-9BA0-A24D-2505783D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14A6C5F-5B0F-8626-792A-52F9CFBB0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97" y="232066"/>
            <a:ext cx="10679603" cy="626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394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802A72-8F5A-4619-3294-16FE63AA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proteins of Sarcomere and sarcolemma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3D5BC-78BD-B5FF-6EF3-71638C88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Titin</a:t>
            </a:r>
          </a:p>
          <a:p>
            <a:pPr marL="514350" indent="-514350">
              <a:buAutoNum type="arabicPeriod"/>
            </a:pPr>
            <a:r>
              <a:rPr lang="en-US" dirty="0"/>
              <a:t>Nebulin</a:t>
            </a:r>
          </a:p>
          <a:p>
            <a:pPr marL="514350" indent="-514350">
              <a:buAutoNum type="arabicPeriod"/>
            </a:pPr>
            <a:r>
              <a:rPr lang="en-US" dirty="0"/>
              <a:t>Dystrophin</a:t>
            </a:r>
          </a:p>
        </p:txBody>
      </p:sp>
    </p:spTree>
    <p:extLst>
      <p:ext uri="{BB962C8B-B14F-4D97-AF65-F5344CB8AC3E}">
        <p14:creationId xmlns:p14="http://schemas.microsoft.com/office/powerpoint/2010/main" val="2106840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1DB0-29D7-02A2-009E-16239BC6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146" name="Picture 2" descr="Frontiers | The importance of dystrophin and the dystrophin associated  proteins in vascular smooth muscle">
            <a:extLst>
              <a:ext uri="{FF2B5EF4-FFF2-40B4-BE49-F238E27FC236}">
                <a16:creationId xmlns:a16="http://schemas.microsoft.com/office/drawing/2014/main" id="{169975CF-A7B1-C554-369F-D826238EB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561975"/>
            <a:ext cx="9229725" cy="573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375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8000-2037-D91D-F30E-9053B740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26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9D90-A466-BA74-6A0A-01DF34FA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BA154E-AF35-2144-018B-3A26A1698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758684"/>
              </p:ext>
            </p:extLst>
          </p:nvPr>
        </p:nvGraphicFramePr>
        <p:xfrm>
          <a:off x="838199" y="603316"/>
          <a:ext cx="10634220" cy="59671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44740">
                  <a:extLst>
                    <a:ext uri="{9D8B030D-6E8A-4147-A177-3AD203B41FA5}">
                      <a16:colId xmlns:a16="http://schemas.microsoft.com/office/drawing/2014/main" val="3472619257"/>
                    </a:ext>
                  </a:extLst>
                </a:gridCol>
                <a:gridCol w="3544740">
                  <a:extLst>
                    <a:ext uri="{9D8B030D-6E8A-4147-A177-3AD203B41FA5}">
                      <a16:colId xmlns:a16="http://schemas.microsoft.com/office/drawing/2014/main" val="3626666710"/>
                    </a:ext>
                  </a:extLst>
                </a:gridCol>
                <a:gridCol w="3544740">
                  <a:extLst>
                    <a:ext uri="{9D8B030D-6E8A-4147-A177-3AD203B41FA5}">
                      <a16:colId xmlns:a16="http://schemas.microsoft.com/office/drawing/2014/main" val="3320491478"/>
                    </a:ext>
                  </a:extLst>
                </a:gridCol>
              </a:tblGrid>
              <a:tr h="410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Protein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Main Connection / Function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In Simple Words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45021611"/>
                  </a:ext>
                </a:extLst>
              </a:tr>
              <a:tr h="1029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Dystrophin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Links </a:t>
                      </a:r>
                      <a:r>
                        <a:rPr lang="en-US" sz="1500" b="1" dirty="0"/>
                        <a:t>actin (inside)</a:t>
                      </a:r>
                      <a:r>
                        <a:rPr lang="en-US" sz="1500" dirty="0"/>
                        <a:t> to </a:t>
                      </a:r>
                      <a:r>
                        <a:rPr lang="en-US" sz="1500" b="1" dirty="0"/>
                        <a:t>sarcolemma (cell membrane)</a:t>
                      </a:r>
                      <a:r>
                        <a:rPr lang="en-US" sz="1500" dirty="0"/>
                        <a:t> and </a:t>
                      </a:r>
                      <a:r>
                        <a:rPr lang="en-US" sz="1500" b="1" dirty="0"/>
                        <a:t>extracellular matrix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Acts like a </a:t>
                      </a:r>
                      <a:r>
                        <a:rPr lang="en-US" sz="1500" b="1"/>
                        <a:t>shock absorber</a:t>
                      </a:r>
                      <a:r>
                        <a:rPr lang="en-US" sz="1500"/>
                        <a:t> — keeps the membrane from tearing during contraction.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407692974"/>
                  </a:ext>
                </a:extLst>
              </a:tr>
              <a:tr h="1029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Nebulin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Runs along </a:t>
                      </a:r>
                      <a:r>
                        <a:rPr lang="en-US" sz="1500" b="1"/>
                        <a:t>actin (thin filament)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Works like a </a:t>
                      </a:r>
                      <a:r>
                        <a:rPr lang="en-US" sz="1500" b="1"/>
                        <a:t>ruler</a:t>
                      </a:r>
                      <a:r>
                        <a:rPr lang="en-US" sz="1500"/>
                        <a:t> — sets and stabilizes the </a:t>
                      </a:r>
                      <a:r>
                        <a:rPr lang="en-US" sz="1500" b="1"/>
                        <a:t>length of actin</a:t>
                      </a:r>
                      <a:r>
                        <a:rPr lang="en-US" sz="1500"/>
                        <a:t> filaments.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042412504"/>
                  </a:ext>
                </a:extLst>
              </a:tr>
              <a:tr h="1029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Desmin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Connects </a:t>
                      </a:r>
                      <a:r>
                        <a:rPr lang="en-US" sz="1500" b="1" dirty="0"/>
                        <a:t>adjacent myofibrils</a:t>
                      </a:r>
                      <a:r>
                        <a:rPr lang="en-US" sz="1500" dirty="0"/>
                        <a:t> to each other and to the </a:t>
                      </a:r>
                      <a:r>
                        <a:rPr lang="en-US" sz="1500" b="1" dirty="0"/>
                        <a:t>sarcolemma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Keeps all fibers </a:t>
                      </a:r>
                      <a:r>
                        <a:rPr lang="en-US" sz="1500" b="1"/>
                        <a:t>aligned and coordinated</a:t>
                      </a:r>
                      <a:r>
                        <a:rPr lang="en-US" sz="1500"/>
                        <a:t> — like ties holding rods together.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994628360"/>
                  </a:ext>
                </a:extLst>
              </a:tr>
              <a:tr h="719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500" b="1"/>
                        <a:t>α-</a:t>
                      </a:r>
                      <a:r>
                        <a:rPr lang="en-US" sz="1500" b="1"/>
                        <a:t>Actinin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Anchors </a:t>
                      </a:r>
                      <a:r>
                        <a:rPr lang="en-US" sz="1500" b="1"/>
                        <a:t>actin filaments</a:t>
                      </a:r>
                      <a:r>
                        <a:rPr lang="en-US" sz="1500"/>
                        <a:t> to the </a:t>
                      </a:r>
                      <a:r>
                        <a:rPr lang="en-US" sz="1500" b="1"/>
                        <a:t>Z-line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</a:t>
                      </a:r>
                      <a:r>
                        <a:rPr lang="en-US" sz="1500" b="1"/>
                        <a:t>clamp</a:t>
                      </a:r>
                      <a:r>
                        <a:rPr lang="en-US" sz="1500"/>
                        <a:t> that holds thin filaments at the Z-disc.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626732845"/>
                  </a:ext>
                </a:extLst>
              </a:tr>
              <a:tr h="719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Myomesin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Cross-links </a:t>
                      </a:r>
                      <a:r>
                        <a:rPr lang="en-US" sz="1500" b="1"/>
                        <a:t>myosin filaments</a:t>
                      </a:r>
                      <a:r>
                        <a:rPr lang="en-US" sz="1500"/>
                        <a:t> at the </a:t>
                      </a:r>
                      <a:r>
                        <a:rPr lang="en-US" sz="1500" b="1"/>
                        <a:t>M-line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</a:t>
                      </a:r>
                      <a:r>
                        <a:rPr lang="en-US" sz="1500" b="1"/>
                        <a:t>bridge</a:t>
                      </a:r>
                      <a:r>
                        <a:rPr lang="en-US" sz="1500"/>
                        <a:t> that keeps thick filaments centered.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654065847"/>
                  </a:ext>
                </a:extLst>
              </a:tr>
              <a:tr h="1029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Titin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Connects </a:t>
                      </a:r>
                      <a:r>
                        <a:rPr lang="en-US" sz="1500" b="1"/>
                        <a:t>Z-line to myosin</a:t>
                      </a:r>
                      <a:r>
                        <a:rPr lang="en-US" sz="1500"/>
                        <a:t> along the sarcomere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Acts like a </a:t>
                      </a:r>
                      <a:r>
                        <a:rPr lang="en-US" sz="1500" b="1" dirty="0"/>
                        <a:t>spring</a:t>
                      </a:r>
                      <a:r>
                        <a:rPr lang="en-US" sz="1500" dirty="0"/>
                        <a:t> — provides elasticity and restores resting length.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08026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18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F895-D710-5D09-4437-EA7BAAB2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744351-150E-23AE-D120-0C6E63F70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Recent Advances</a:t>
            </a:r>
          </a:p>
        </p:txBody>
      </p:sp>
    </p:spTree>
    <p:extLst>
      <p:ext uri="{BB962C8B-B14F-4D97-AF65-F5344CB8AC3E}">
        <p14:creationId xmlns:p14="http://schemas.microsoft.com/office/powerpoint/2010/main" val="3160088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553A12-999E-A7B4-E7A0-6BE90064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46B2-26CC-863D-59D3-EDEEF726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462"/>
            <a:ext cx="10515600" cy="559250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Gene editing (CRISPR, exon skipping):</a:t>
            </a:r>
            <a:r>
              <a:rPr lang="en-US" dirty="0"/>
              <a:t> Restores partial dystrophin expression in muscular dystrophy.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Stem-cell therapy:</a:t>
            </a:r>
            <a:r>
              <a:rPr lang="en-US" dirty="0"/>
              <a:t> Uses satellite or iPSC-derived myoblasts for muscle regeneration.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Advanced imaging:</a:t>
            </a:r>
            <a:r>
              <a:rPr lang="en-US" dirty="0"/>
              <a:t> Super-resolution &amp; MRI reveal sarcomere structure and fiber damage in vivo.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Proteomics:</a:t>
            </a:r>
            <a:r>
              <a:rPr lang="en-US" dirty="0"/>
              <a:t> Maps titin, myosin, troponin modifications in fatigue and disease.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Bioengineered organoids:</a:t>
            </a:r>
            <a:r>
              <a:rPr lang="en-US" dirty="0"/>
              <a:t> 3D-printed muscle models mimic real contraction for research.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AI modeling:</a:t>
            </a:r>
            <a:r>
              <a:rPr lang="en-US" dirty="0"/>
              <a:t> Simulates sarcomere dynamics and predicts contractile performance.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77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A41A-1938-A9B4-1F5A-74C4626B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573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MCQs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6CFF5-F131-C8A5-8210-4C1AF5448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9723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B20E-DF78-C4B7-2AA3-911021B8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 basic contractile unit of skeletal muscle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89CEA-BE29-D95E-CC6E-C454B3B90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a) Myofibril b) Sarcolemma  c) Sarcomere d) Fascicle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10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4A29-DC9F-8222-45C7-053171E9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 thick filament of skeletal muscle is primarily composed of: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BFD0-AC18-2307-E1B0-9AB8158B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a) Myosin b) Actin c) Tropomyosin d) Troponin</a:t>
            </a:r>
          </a:p>
        </p:txBody>
      </p:sp>
    </p:spTree>
    <p:extLst>
      <p:ext uri="{BB962C8B-B14F-4D97-AF65-F5344CB8AC3E}">
        <p14:creationId xmlns:p14="http://schemas.microsoft.com/office/powerpoint/2010/main" val="271979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143D-5A06-320F-3CC1-8090B4C2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The thin filament is made up of: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EEC43-8974-C649-19D8-3AC31387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Actin, tropomyosin, and troponin </a:t>
            </a:r>
          </a:p>
          <a:p>
            <a:pPr marL="514350" indent="-514350">
              <a:buAutoNum type="alphaLcParenR"/>
            </a:pPr>
            <a:r>
              <a:rPr lang="en-US" dirty="0"/>
              <a:t>Myosin and titin </a:t>
            </a:r>
          </a:p>
          <a:p>
            <a:pPr marL="514350" indent="-514350">
              <a:buAutoNum type="alphaLcParenR"/>
            </a:pPr>
            <a:r>
              <a:rPr lang="en-US" dirty="0"/>
              <a:t>Desmin and nebulin </a:t>
            </a:r>
          </a:p>
          <a:p>
            <a:pPr marL="514350" indent="-514350">
              <a:buAutoNum type="alphaLcParenR"/>
            </a:pPr>
            <a:r>
              <a:rPr lang="en-US" dirty="0"/>
              <a:t>Myosin only</a:t>
            </a:r>
          </a:p>
        </p:txBody>
      </p:sp>
    </p:spTree>
    <p:extLst>
      <p:ext uri="{BB962C8B-B14F-4D97-AF65-F5344CB8AC3E}">
        <p14:creationId xmlns:p14="http://schemas.microsoft.com/office/powerpoint/2010/main" val="463281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B05B-266F-EFBB-E48B-442C2F3F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During muscle contraction, which band remains unchanged in length?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195B-D302-2C0A-60F9-F0AC0595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it-IT" dirty="0"/>
              <a:t>A-band </a:t>
            </a:r>
          </a:p>
          <a:p>
            <a:pPr marL="514350" indent="-514350">
              <a:buAutoNum type="alphaLcParenR"/>
            </a:pPr>
            <a:r>
              <a:rPr lang="it-IT" dirty="0"/>
              <a:t>I-band </a:t>
            </a:r>
          </a:p>
          <a:p>
            <a:pPr marL="514350" indent="-514350">
              <a:buAutoNum type="alphaLcParenR"/>
            </a:pPr>
            <a:r>
              <a:rPr lang="it-IT" dirty="0"/>
              <a:t>H-zone </a:t>
            </a:r>
          </a:p>
          <a:p>
            <a:pPr marL="514350" indent="-514350">
              <a:buAutoNum type="alphaLcParenR"/>
            </a:pPr>
            <a:r>
              <a:rPr lang="it-IT" dirty="0"/>
              <a:t>Sarcomere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16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006F-73A6-3C77-8A23-BAB53536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The Z-line is formed mainly by the attachment of: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1A05A-7D2D-5DC5-E8AF-4F241E36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Actin filaments </a:t>
            </a:r>
          </a:p>
          <a:p>
            <a:pPr marL="514350" indent="-514350">
              <a:buAutoNum type="alphaLcParenR"/>
            </a:pPr>
            <a:r>
              <a:rPr lang="en-US" dirty="0"/>
              <a:t>Myosin filaments </a:t>
            </a:r>
          </a:p>
          <a:p>
            <a:pPr marL="514350" indent="-514350">
              <a:buAutoNum type="alphaLcParenR"/>
            </a:pPr>
            <a:r>
              <a:rPr lang="en-US" dirty="0"/>
              <a:t>Titin </a:t>
            </a:r>
          </a:p>
          <a:p>
            <a:pPr marL="514350" indent="-514350">
              <a:buAutoNum type="alphaLcParenR"/>
            </a:pPr>
            <a:r>
              <a:rPr lang="en-US" dirty="0"/>
              <a:t>Desmin</a:t>
            </a:r>
          </a:p>
        </p:txBody>
      </p:sp>
    </p:spTree>
    <p:extLst>
      <p:ext uri="{BB962C8B-B14F-4D97-AF65-F5344CB8AC3E}">
        <p14:creationId xmlns:p14="http://schemas.microsoft.com/office/powerpoint/2010/main" val="3344598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5E8B-7C82-CED9-79C3-FB3CFE82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Titin connects: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84166-DF80-BE51-EDAB-F3A20BC7F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Z-line to myosin </a:t>
            </a:r>
          </a:p>
          <a:p>
            <a:pPr marL="514350" indent="-514350">
              <a:buAutoNum type="alphaLcParenR"/>
            </a:pPr>
            <a:r>
              <a:rPr lang="en-US" dirty="0"/>
              <a:t>Actin to sarcolemma </a:t>
            </a:r>
          </a:p>
          <a:p>
            <a:pPr marL="514350" indent="-514350">
              <a:buAutoNum type="alphaLcParenR"/>
            </a:pPr>
            <a:r>
              <a:rPr lang="en-US" dirty="0"/>
              <a:t>Myosin to actin </a:t>
            </a:r>
          </a:p>
          <a:p>
            <a:pPr marL="514350" indent="-514350">
              <a:buAutoNum type="alphaLcParenR"/>
            </a:pPr>
            <a:r>
              <a:rPr lang="en-US" dirty="0"/>
              <a:t>Troponin to tropomyosin</a:t>
            </a:r>
          </a:p>
        </p:txBody>
      </p:sp>
    </p:spTree>
    <p:extLst>
      <p:ext uri="{BB962C8B-B14F-4D97-AF65-F5344CB8AC3E}">
        <p14:creationId xmlns:p14="http://schemas.microsoft.com/office/powerpoint/2010/main" val="3704649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2F4C-2529-910C-ABA5-01B736DA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Nebulin functions mainly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B3EC7-3AFB-A431-D135-6C01AE5CE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Regulate the length of actin filaments </a:t>
            </a:r>
          </a:p>
          <a:p>
            <a:pPr marL="514350" indent="-514350">
              <a:buAutoNum type="alphaLcParenR"/>
            </a:pPr>
            <a:r>
              <a:rPr lang="en-US" dirty="0"/>
              <a:t>Anchor myosin to Z-line </a:t>
            </a:r>
          </a:p>
          <a:p>
            <a:pPr marL="514350" indent="-514350">
              <a:buAutoNum type="alphaLcParenR"/>
            </a:pPr>
            <a:r>
              <a:rPr lang="en-US" dirty="0"/>
              <a:t>Bind troponin </a:t>
            </a:r>
          </a:p>
          <a:p>
            <a:pPr marL="514350" indent="-514350">
              <a:buAutoNum type="alphaLcParenR"/>
            </a:pPr>
            <a:r>
              <a:rPr lang="en-US" dirty="0"/>
              <a:t>Transmit nerve impulses</a:t>
            </a:r>
          </a:p>
        </p:txBody>
      </p:sp>
    </p:spTree>
    <p:extLst>
      <p:ext uri="{BB962C8B-B14F-4D97-AF65-F5344CB8AC3E}">
        <p14:creationId xmlns:p14="http://schemas.microsoft.com/office/powerpoint/2010/main" val="3601504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2B60-7CD8-83FC-2143-E5BD68A4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Dystrophin provides linkage between: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BA98C-3BEF-518C-8CE8-8496202FD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Myosin and titin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Actin and the sarcolemma  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Actin and troponin 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Sarcoplasmic reticulum and sarcolemma</a:t>
            </a:r>
          </a:p>
        </p:txBody>
      </p:sp>
    </p:spTree>
    <p:extLst>
      <p:ext uri="{BB962C8B-B14F-4D97-AF65-F5344CB8AC3E}">
        <p14:creationId xmlns:p14="http://schemas.microsoft.com/office/powerpoint/2010/main" val="893486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D676-D282-E45A-11AF-4DA296F0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Which protein connects adjacent myofibrils to maintain alignment?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0EC39-2721-1427-88CD-0B1B10F23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it-IT" dirty="0"/>
              <a:t>Nebulin </a:t>
            </a:r>
          </a:p>
          <a:p>
            <a:pPr marL="514350" indent="-514350">
              <a:buFont typeface="+mj-lt"/>
              <a:buAutoNum type="alphaLcParenR"/>
            </a:pPr>
            <a:r>
              <a:rPr lang="it-IT" dirty="0"/>
              <a:t>Troponin </a:t>
            </a:r>
          </a:p>
          <a:p>
            <a:pPr marL="514350" indent="-514350">
              <a:buFont typeface="+mj-lt"/>
              <a:buAutoNum type="alphaLcParenR"/>
            </a:pPr>
            <a:r>
              <a:rPr lang="it-IT" dirty="0"/>
              <a:t>Titin</a:t>
            </a:r>
          </a:p>
          <a:p>
            <a:pPr marL="514350" indent="-514350">
              <a:buFont typeface="+mj-lt"/>
              <a:buAutoNum type="alphaLcParenR"/>
            </a:pPr>
            <a:r>
              <a:rPr lang="it-IT" dirty="0"/>
              <a:t>Desmin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99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FF63-FB39-824F-3B13-3C4FDCCB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In Duchenne muscular dystrophy, which protein is defective or absent?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36A25-A7DD-B0EF-7BDA-E1BFAAECC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de-DE" dirty="0"/>
              <a:t>Dystrophin </a:t>
            </a:r>
          </a:p>
          <a:p>
            <a:pPr marL="514350" indent="-514350">
              <a:buAutoNum type="alphaLcParenR"/>
            </a:pPr>
            <a:r>
              <a:rPr lang="de-DE" dirty="0"/>
              <a:t>Nebulin </a:t>
            </a:r>
          </a:p>
          <a:p>
            <a:pPr marL="514350" indent="-514350">
              <a:buAutoNum type="alphaLcParenR"/>
            </a:pPr>
            <a:r>
              <a:rPr lang="de-DE" dirty="0"/>
              <a:t>Desmin </a:t>
            </a:r>
          </a:p>
          <a:p>
            <a:pPr marL="514350" indent="-514350">
              <a:buAutoNum type="alphaLcParenR"/>
            </a:pPr>
            <a:r>
              <a:rPr lang="de-DE" dirty="0"/>
              <a:t>Titin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06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348B-B182-F21E-7297-E81C190F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F979E-95B0-31BA-FE10-BCD3EF765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506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347</TotalTime>
  <Words>834</Words>
  <Application>Microsoft Office PowerPoint</Application>
  <PresentationFormat>Widescreen</PresentationFormat>
  <Paragraphs>151</Paragraphs>
  <Slides>34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Office Theme</vt:lpstr>
      <vt:lpstr>Functional Organisation of Skeletal Muscle</vt:lpstr>
      <vt:lpstr>Contents</vt:lpstr>
      <vt:lpstr>Case Scenario</vt:lpstr>
      <vt:lpstr>History</vt:lpstr>
      <vt:lpstr>Investigations</vt:lpstr>
      <vt:lpstr>Examination</vt:lpstr>
      <vt:lpstr>PowerPoint Presentation</vt:lpstr>
      <vt:lpstr>PowerPoint Presentation</vt:lpstr>
      <vt:lpstr> </vt:lpstr>
      <vt:lpstr>History</vt:lpstr>
      <vt:lpstr> </vt:lpstr>
      <vt:lpstr>Functional Organization of Skeletal Muscle</vt:lpstr>
      <vt:lpstr> </vt:lpstr>
      <vt:lpstr> </vt:lpstr>
      <vt:lpstr> </vt:lpstr>
      <vt:lpstr> </vt:lpstr>
      <vt:lpstr>Structural proteins of Sarcomere and sarcolemma</vt:lpstr>
      <vt:lpstr> </vt:lpstr>
      <vt:lpstr>PowerPoint Presentation</vt:lpstr>
      <vt:lpstr> </vt:lpstr>
      <vt:lpstr>Recent Advances</vt:lpstr>
      <vt:lpstr> </vt:lpstr>
      <vt:lpstr>MCQs</vt:lpstr>
      <vt:lpstr>1. The basic contractile unit of skeletal muscle is:</vt:lpstr>
      <vt:lpstr>2. The thick filament of skeletal muscle is primarily composed of:</vt:lpstr>
      <vt:lpstr>3. The thin filament is made up of:</vt:lpstr>
      <vt:lpstr>4. During muscle contraction, which band remains unchanged in length?</vt:lpstr>
      <vt:lpstr>5. The Z-line is formed mainly by the attachment of:</vt:lpstr>
      <vt:lpstr>6. Titin connects:</vt:lpstr>
      <vt:lpstr>7. Nebulin functions mainly to:</vt:lpstr>
      <vt:lpstr>8. Dystrophin provides linkage between:</vt:lpstr>
      <vt:lpstr>9. Which protein connects adjacent myofibrils to maintain alignment?</vt:lpstr>
      <vt:lpstr>10. In Duchenne muscular dystrophy, which protein is defective or absent?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Akhil Raj Kumar Yerra</dc:creator>
  <cp:lastModifiedBy>Vishnu Akhil Raj Kumar Yerra</cp:lastModifiedBy>
  <cp:revision>49</cp:revision>
  <dcterms:created xsi:type="dcterms:W3CDTF">2025-06-03T08:22:01Z</dcterms:created>
  <dcterms:modified xsi:type="dcterms:W3CDTF">2025-11-01T02:44:39Z</dcterms:modified>
</cp:coreProperties>
</file>