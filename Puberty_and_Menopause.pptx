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96" r:id="rId5"/>
    <p:sldId id="297" r:id="rId6"/>
    <p:sldId id="298" r:id="rId7"/>
    <p:sldId id="299" r:id="rId8"/>
    <p:sldId id="278" r:id="rId9"/>
    <p:sldId id="279" r:id="rId10"/>
    <p:sldId id="300" r:id="rId11"/>
    <p:sldId id="302" r:id="rId12"/>
    <p:sldId id="303" r:id="rId13"/>
    <p:sldId id="304" r:id="rId14"/>
    <p:sldId id="305" r:id="rId15"/>
    <p:sldId id="306" r:id="rId16"/>
    <p:sldId id="307" r:id="rId17"/>
    <p:sldId id="263" r:id="rId18"/>
    <p:sldId id="301" r:id="rId19"/>
    <p:sldId id="308" r:id="rId20"/>
    <p:sldId id="309" r:id="rId21"/>
    <p:sldId id="29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245E2-9E9A-9824-3E2A-E9A120C4D4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F6D413-F378-4890-F14D-EDE6D7E606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F6EFE6-2588-D367-08C7-914CC4D39BED}"/>
              </a:ext>
            </a:extLst>
          </p:cNvPr>
          <p:cNvSpPr>
            <a:spLocks noGrp="1"/>
          </p:cNvSpPr>
          <p:nvPr>
            <p:ph type="dt" sz="half" idx="10"/>
          </p:nvPr>
        </p:nvSpPr>
        <p:spPr/>
        <p:txBody>
          <a:bodyPr/>
          <a:lstStyle/>
          <a:p>
            <a:fld id="{DF0F9652-95D3-4ACA-813C-A5FA4D23F5E7}" type="datetimeFigureOut">
              <a:rPr lang="en-US" smtClean="0"/>
              <a:t>25-Jun-25</a:t>
            </a:fld>
            <a:endParaRPr lang="en-US"/>
          </a:p>
        </p:txBody>
      </p:sp>
      <p:sp>
        <p:nvSpPr>
          <p:cNvPr id="5" name="Footer Placeholder 4">
            <a:extLst>
              <a:ext uri="{FF2B5EF4-FFF2-40B4-BE49-F238E27FC236}">
                <a16:creationId xmlns:a16="http://schemas.microsoft.com/office/drawing/2014/main" id="{3D014018-26AD-4478-65C5-B781B8CDB9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559560-AFA1-E0BA-0E3C-7BAF4C19B2D7}"/>
              </a:ext>
            </a:extLst>
          </p:cNvPr>
          <p:cNvSpPr>
            <a:spLocks noGrp="1"/>
          </p:cNvSpPr>
          <p:nvPr>
            <p:ph type="sldNum" sz="quarter" idx="12"/>
          </p:nvPr>
        </p:nvSpPr>
        <p:spPr/>
        <p:txBody>
          <a:bodyPr/>
          <a:lstStyle/>
          <a:p>
            <a:fld id="{9E4A8B07-2201-4EFB-8D62-F4503EA12EC4}" type="slidenum">
              <a:rPr lang="en-US" smtClean="0"/>
              <a:t>‹#›</a:t>
            </a:fld>
            <a:endParaRPr lang="en-US"/>
          </a:p>
        </p:txBody>
      </p:sp>
    </p:spTree>
    <p:extLst>
      <p:ext uri="{BB962C8B-B14F-4D97-AF65-F5344CB8AC3E}">
        <p14:creationId xmlns:p14="http://schemas.microsoft.com/office/powerpoint/2010/main" val="2326328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F551A-F6C8-2F05-7A36-5AF1B1FE1E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4AE095-F11F-8EC5-77DF-E804F4361A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7FF13B-23DE-378B-9A3F-5AFC618752E1}"/>
              </a:ext>
            </a:extLst>
          </p:cNvPr>
          <p:cNvSpPr>
            <a:spLocks noGrp="1"/>
          </p:cNvSpPr>
          <p:nvPr>
            <p:ph type="dt" sz="half" idx="10"/>
          </p:nvPr>
        </p:nvSpPr>
        <p:spPr/>
        <p:txBody>
          <a:bodyPr/>
          <a:lstStyle/>
          <a:p>
            <a:fld id="{DF0F9652-95D3-4ACA-813C-A5FA4D23F5E7}" type="datetimeFigureOut">
              <a:rPr lang="en-US" smtClean="0"/>
              <a:t>25-Jun-25</a:t>
            </a:fld>
            <a:endParaRPr lang="en-US"/>
          </a:p>
        </p:txBody>
      </p:sp>
      <p:sp>
        <p:nvSpPr>
          <p:cNvPr id="5" name="Footer Placeholder 4">
            <a:extLst>
              <a:ext uri="{FF2B5EF4-FFF2-40B4-BE49-F238E27FC236}">
                <a16:creationId xmlns:a16="http://schemas.microsoft.com/office/drawing/2014/main" id="{16E71816-397C-1B4F-85A8-F5579C1660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C3FB7D-8CBB-586D-3100-B4DCA6601C55}"/>
              </a:ext>
            </a:extLst>
          </p:cNvPr>
          <p:cNvSpPr>
            <a:spLocks noGrp="1"/>
          </p:cNvSpPr>
          <p:nvPr>
            <p:ph type="sldNum" sz="quarter" idx="12"/>
          </p:nvPr>
        </p:nvSpPr>
        <p:spPr/>
        <p:txBody>
          <a:bodyPr/>
          <a:lstStyle/>
          <a:p>
            <a:fld id="{9E4A8B07-2201-4EFB-8D62-F4503EA12EC4}" type="slidenum">
              <a:rPr lang="en-US" smtClean="0"/>
              <a:t>‹#›</a:t>
            </a:fld>
            <a:endParaRPr lang="en-US"/>
          </a:p>
        </p:txBody>
      </p:sp>
    </p:spTree>
    <p:extLst>
      <p:ext uri="{BB962C8B-B14F-4D97-AF65-F5344CB8AC3E}">
        <p14:creationId xmlns:p14="http://schemas.microsoft.com/office/powerpoint/2010/main" val="1486513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CED57-6B7A-428C-DEE0-3FB3849E5E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8BA62A-2A93-F299-3AC7-10937B103E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E67289-A13C-C482-DF75-B76672314366}"/>
              </a:ext>
            </a:extLst>
          </p:cNvPr>
          <p:cNvSpPr>
            <a:spLocks noGrp="1"/>
          </p:cNvSpPr>
          <p:nvPr>
            <p:ph type="dt" sz="half" idx="10"/>
          </p:nvPr>
        </p:nvSpPr>
        <p:spPr/>
        <p:txBody>
          <a:bodyPr/>
          <a:lstStyle/>
          <a:p>
            <a:fld id="{DF0F9652-95D3-4ACA-813C-A5FA4D23F5E7}" type="datetimeFigureOut">
              <a:rPr lang="en-US" smtClean="0"/>
              <a:t>25-Jun-25</a:t>
            </a:fld>
            <a:endParaRPr lang="en-US"/>
          </a:p>
        </p:txBody>
      </p:sp>
      <p:sp>
        <p:nvSpPr>
          <p:cNvPr id="5" name="Footer Placeholder 4">
            <a:extLst>
              <a:ext uri="{FF2B5EF4-FFF2-40B4-BE49-F238E27FC236}">
                <a16:creationId xmlns:a16="http://schemas.microsoft.com/office/drawing/2014/main" id="{3AC0D88B-46A0-F030-8A11-50FA991F55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E61A7A-A77C-CAF1-1A0A-3B1589343B2B}"/>
              </a:ext>
            </a:extLst>
          </p:cNvPr>
          <p:cNvSpPr>
            <a:spLocks noGrp="1"/>
          </p:cNvSpPr>
          <p:nvPr>
            <p:ph type="sldNum" sz="quarter" idx="12"/>
          </p:nvPr>
        </p:nvSpPr>
        <p:spPr/>
        <p:txBody>
          <a:bodyPr/>
          <a:lstStyle/>
          <a:p>
            <a:fld id="{9E4A8B07-2201-4EFB-8D62-F4503EA12EC4}" type="slidenum">
              <a:rPr lang="en-US" smtClean="0"/>
              <a:t>‹#›</a:t>
            </a:fld>
            <a:endParaRPr lang="en-US"/>
          </a:p>
        </p:txBody>
      </p:sp>
    </p:spTree>
    <p:extLst>
      <p:ext uri="{BB962C8B-B14F-4D97-AF65-F5344CB8AC3E}">
        <p14:creationId xmlns:p14="http://schemas.microsoft.com/office/powerpoint/2010/main" val="1408706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396B2-E775-0510-AFE5-9AB90BC33E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FCFF0B-01DD-C51F-084A-8F0153BD64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88C7FA-C118-CFBC-6F7C-873ACF9BD7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C326B3-8AC2-B695-4503-ABCA73B52F90}"/>
              </a:ext>
            </a:extLst>
          </p:cNvPr>
          <p:cNvSpPr>
            <a:spLocks noGrp="1"/>
          </p:cNvSpPr>
          <p:nvPr>
            <p:ph type="dt" sz="half" idx="10"/>
          </p:nvPr>
        </p:nvSpPr>
        <p:spPr/>
        <p:txBody>
          <a:bodyPr/>
          <a:lstStyle/>
          <a:p>
            <a:fld id="{DF0F9652-95D3-4ACA-813C-A5FA4D23F5E7}" type="datetimeFigureOut">
              <a:rPr lang="en-US" smtClean="0"/>
              <a:t>25-Jun-25</a:t>
            </a:fld>
            <a:endParaRPr lang="en-US"/>
          </a:p>
        </p:txBody>
      </p:sp>
      <p:sp>
        <p:nvSpPr>
          <p:cNvPr id="6" name="Footer Placeholder 5">
            <a:extLst>
              <a:ext uri="{FF2B5EF4-FFF2-40B4-BE49-F238E27FC236}">
                <a16:creationId xmlns:a16="http://schemas.microsoft.com/office/drawing/2014/main" id="{A89DAFF8-3418-D999-849D-3ED782D741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B14DFC-6F1C-0C86-44D3-CC410D9D6213}"/>
              </a:ext>
            </a:extLst>
          </p:cNvPr>
          <p:cNvSpPr>
            <a:spLocks noGrp="1"/>
          </p:cNvSpPr>
          <p:nvPr>
            <p:ph type="sldNum" sz="quarter" idx="12"/>
          </p:nvPr>
        </p:nvSpPr>
        <p:spPr/>
        <p:txBody>
          <a:bodyPr/>
          <a:lstStyle/>
          <a:p>
            <a:fld id="{9E4A8B07-2201-4EFB-8D62-F4503EA12EC4}" type="slidenum">
              <a:rPr lang="en-US" smtClean="0"/>
              <a:t>‹#›</a:t>
            </a:fld>
            <a:endParaRPr lang="en-US"/>
          </a:p>
        </p:txBody>
      </p:sp>
    </p:spTree>
    <p:extLst>
      <p:ext uri="{BB962C8B-B14F-4D97-AF65-F5344CB8AC3E}">
        <p14:creationId xmlns:p14="http://schemas.microsoft.com/office/powerpoint/2010/main" val="3977026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64F0-EC39-D080-CAA4-6C262CD1E0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6DC1B5-3193-9627-5209-E95F5B3861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A1DAF7-B647-71F7-1D42-5476C4D0A3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F7778D-2BAD-AB5F-94A3-3CE1568218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8A2747-458F-7DCB-B7AC-418A53C98D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23BA84-29FB-B359-9A9F-EBB8A9E3D49E}"/>
              </a:ext>
            </a:extLst>
          </p:cNvPr>
          <p:cNvSpPr>
            <a:spLocks noGrp="1"/>
          </p:cNvSpPr>
          <p:nvPr>
            <p:ph type="dt" sz="half" idx="10"/>
          </p:nvPr>
        </p:nvSpPr>
        <p:spPr/>
        <p:txBody>
          <a:bodyPr/>
          <a:lstStyle/>
          <a:p>
            <a:fld id="{DF0F9652-95D3-4ACA-813C-A5FA4D23F5E7}" type="datetimeFigureOut">
              <a:rPr lang="en-US" smtClean="0"/>
              <a:t>25-Jun-25</a:t>
            </a:fld>
            <a:endParaRPr lang="en-US"/>
          </a:p>
        </p:txBody>
      </p:sp>
      <p:sp>
        <p:nvSpPr>
          <p:cNvPr id="8" name="Footer Placeholder 7">
            <a:extLst>
              <a:ext uri="{FF2B5EF4-FFF2-40B4-BE49-F238E27FC236}">
                <a16:creationId xmlns:a16="http://schemas.microsoft.com/office/drawing/2014/main" id="{40CB660E-3206-A041-2357-873E984B55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48CCB7-22E9-2274-B424-91844383F10E}"/>
              </a:ext>
            </a:extLst>
          </p:cNvPr>
          <p:cNvSpPr>
            <a:spLocks noGrp="1"/>
          </p:cNvSpPr>
          <p:nvPr>
            <p:ph type="sldNum" sz="quarter" idx="12"/>
          </p:nvPr>
        </p:nvSpPr>
        <p:spPr/>
        <p:txBody>
          <a:bodyPr/>
          <a:lstStyle/>
          <a:p>
            <a:fld id="{9E4A8B07-2201-4EFB-8D62-F4503EA12EC4}" type="slidenum">
              <a:rPr lang="en-US" smtClean="0"/>
              <a:t>‹#›</a:t>
            </a:fld>
            <a:endParaRPr lang="en-US"/>
          </a:p>
        </p:txBody>
      </p:sp>
    </p:spTree>
    <p:extLst>
      <p:ext uri="{BB962C8B-B14F-4D97-AF65-F5344CB8AC3E}">
        <p14:creationId xmlns:p14="http://schemas.microsoft.com/office/powerpoint/2010/main" val="2399135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102A6-60C1-5865-3855-06B587FCEE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EAE93F-308E-FEDD-75FC-2660F8BFE627}"/>
              </a:ext>
            </a:extLst>
          </p:cNvPr>
          <p:cNvSpPr>
            <a:spLocks noGrp="1"/>
          </p:cNvSpPr>
          <p:nvPr>
            <p:ph type="dt" sz="half" idx="10"/>
          </p:nvPr>
        </p:nvSpPr>
        <p:spPr/>
        <p:txBody>
          <a:bodyPr/>
          <a:lstStyle/>
          <a:p>
            <a:fld id="{DF0F9652-95D3-4ACA-813C-A5FA4D23F5E7}" type="datetimeFigureOut">
              <a:rPr lang="en-US" smtClean="0"/>
              <a:t>25-Jun-25</a:t>
            </a:fld>
            <a:endParaRPr lang="en-US"/>
          </a:p>
        </p:txBody>
      </p:sp>
      <p:sp>
        <p:nvSpPr>
          <p:cNvPr id="4" name="Footer Placeholder 3">
            <a:extLst>
              <a:ext uri="{FF2B5EF4-FFF2-40B4-BE49-F238E27FC236}">
                <a16:creationId xmlns:a16="http://schemas.microsoft.com/office/drawing/2014/main" id="{CFBC226C-FAC9-C076-6957-42C4828D96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263645-5910-F102-1B75-AB32A00E8C41}"/>
              </a:ext>
            </a:extLst>
          </p:cNvPr>
          <p:cNvSpPr>
            <a:spLocks noGrp="1"/>
          </p:cNvSpPr>
          <p:nvPr>
            <p:ph type="sldNum" sz="quarter" idx="12"/>
          </p:nvPr>
        </p:nvSpPr>
        <p:spPr/>
        <p:txBody>
          <a:bodyPr/>
          <a:lstStyle/>
          <a:p>
            <a:fld id="{9E4A8B07-2201-4EFB-8D62-F4503EA12EC4}" type="slidenum">
              <a:rPr lang="en-US" smtClean="0"/>
              <a:t>‹#›</a:t>
            </a:fld>
            <a:endParaRPr lang="en-US"/>
          </a:p>
        </p:txBody>
      </p:sp>
    </p:spTree>
    <p:extLst>
      <p:ext uri="{BB962C8B-B14F-4D97-AF65-F5344CB8AC3E}">
        <p14:creationId xmlns:p14="http://schemas.microsoft.com/office/powerpoint/2010/main" val="2000126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D9F8F-E34B-DCFC-FFA3-25227FB78283}"/>
              </a:ext>
            </a:extLst>
          </p:cNvPr>
          <p:cNvSpPr>
            <a:spLocks noGrp="1"/>
          </p:cNvSpPr>
          <p:nvPr>
            <p:ph type="dt" sz="half" idx="10"/>
          </p:nvPr>
        </p:nvSpPr>
        <p:spPr/>
        <p:txBody>
          <a:bodyPr/>
          <a:lstStyle/>
          <a:p>
            <a:fld id="{DF0F9652-95D3-4ACA-813C-A5FA4D23F5E7}" type="datetimeFigureOut">
              <a:rPr lang="en-US" smtClean="0"/>
              <a:t>25-Jun-25</a:t>
            </a:fld>
            <a:endParaRPr lang="en-US"/>
          </a:p>
        </p:txBody>
      </p:sp>
      <p:sp>
        <p:nvSpPr>
          <p:cNvPr id="3" name="Footer Placeholder 2">
            <a:extLst>
              <a:ext uri="{FF2B5EF4-FFF2-40B4-BE49-F238E27FC236}">
                <a16:creationId xmlns:a16="http://schemas.microsoft.com/office/drawing/2014/main" id="{79C444EB-2B93-ED04-6982-13EC5EABFD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E6278D-00EC-F569-04B8-2615315C3F3A}"/>
              </a:ext>
            </a:extLst>
          </p:cNvPr>
          <p:cNvSpPr>
            <a:spLocks noGrp="1"/>
          </p:cNvSpPr>
          <p:nvPr>
            <p:ph type="sldNum" sz="quarter" idx="12"/>
          </p:nvPr>
        </p:nvSpPr>
        <p:spPr/>
        <p:txBody>
          <a:bodyPr/>
          <a:lstStyle/>
          <a:p>
            <a:fld id="{9E4A8B07-2201-4EFB-8D62-F4503EA12EC4}" type="slidenum">
              <a:rPr lang="en-US" smtClean="0"/>
              <a:t>‹#›</a:t>
            </a:fld>
            <a:endParaRPr lang="en-US"/>
          </a:p>
        </p:txBody>
      </p:sp>
    </p:spTree>
    <p:extLst>
      <p:ext uri="{BB962C8B-B14F-4D97-AF65-F5344CB8AC3E}">
        <p14:creationId xmlns:p14="http://schemas.microsoft.com/office/powerpoint/2010/main" val="2644325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FDFD1-409E-5216-22AC-B3707332FE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7D32B2-7DA3-9989-C7BC-0B20CD3648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3D8A96-894F-CC26-243F-7824E97F0E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DB785F-97CF-C620-3832-258028F10C8D}"/>
              </a:ext>
            </a:extLst>
          </p:cNvPr>
          <p:cNvSpPr>
            <a:spLocks noGrp="1"/>
          </p:cNvSpPr>
          <p:nvPr>
            <p:ph type="dt" sz="half" idx="10"/>
          </p:nvPr>
        </p:nvSpPr>
        <p:spPr/>
        <p:txBody>
          <a:bodyPr/>
          <a:lstStyle/>
          <a:p>
            <a:fld id="{DF0F9652-95D3-4ACA-813C-A5FA4D23F5E7}" type="datetimeFigureOut">
              <a:rPr lang="en-US" smtClean="0"/>
              <a:t>25-Jun-25</a:t>
            </a:fld>
            <a:endParaRPr lang="en-US"/>
          </a:p>
        </p:txBody>
      </p:sp>
      <p:sp>
        <p:nvSpPr>
          <p:cNvPr id="6" name="Footer Placeholder 5">
            <a:extLst>
              <a:ext uri="{FF2B5EF4-FFF2-40B4-BE49-F238E27FC236}">
                <a16:creationId xmlns:a16="http://schemas.microsoft.com/office/drawing/2014/main" id="{360FE2D3-4C15-FCCB-C852-522BC25CDE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B5D00A-C20A-F55C-BE0A-15C7FC9C4110}"/>
              </a:ext>
            </a:extLst>
          </p:cNvPr>
          <p:cNvSpPr>
            <a:spLocks noGrp="1"/>
          </p:cNvSpPr>
          <p:nvPr>
            <p:ph type="sldNum" sz="quarter" idx="12"/>
          </p:nvPr>
        </p:nvSpPr>
        <p:spPr/>
        <p:txBody>
          <a:bodyPr/>
          <a:lstStyle/>
          <a:p>
            <a:fld id="{9E4A8B07-2201-4EFB-8D62-F4503EA12EC4}" type="slidenum">
              <a:rPr lang="en-US" smtClean="0"/>
              <a:t>‹#›</a:t>
            </a:fld>
            <a:endParaRPr lang="en-US"/>
          </a:p>
        </p:txBody>
      </p:sp>
    </p:spTree>
    <p:extLst>
      <p:ext uri="{BB962C8B-B14F-4D97-AF65-F5344CB8AC3E}">
        <p14:creationId xmlns:p14="http://schemas.microsoft.com/office/powerpoint/2010/main" val="1653447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9C8DA-A24E-3870-2BE0-44668DE2E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B171E9-D2A2-38C7-1047-EA6E47A74C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11C911-F03B-F8AD-15BA-11208E4E93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2F35A7-DAA7-5E87-0DFB-D102827A2267}"/>
              </a:ext>
            </a:extLst>
          </p:cNvPr>
          <p:cNvSpPr>
            <a:spLocks noGrp="1"/>
          </p:cNvSpPr>
          <p:nvPr>
            <p:ph type="dt" sz="half" idx="10"/>
          </p:nvPr>
        </p:nvSpPr>
        <p:spPr/>
        <p:txBody>
          <a:bodyPr/>
          <a:lstStyle/>
          <a:p>
            <a:fld id="{DF0F9652-95D3-4ACA-813C-A5FA4D23F5E7}" type="datetimeFigureOut">
              <a:rPr lang="en-US" smtClean="0"/>
              <a:t>25-Jun-25</a:t>
            </a:fld>
            <a:endParaRPr lang="en-US"/>
          </a:p>
        </p:txBody>
      </p:sp>
      <p:sp>
        <p:nvSpPr>
          <p:cNvPr id="6" name="Footer Placeholder 5">
            <a:extLst>
              <a:ext uri="{FF2B5EF4-FFF2-40B4-BE49-F238E27FC236}">
                <a16:creationId xmlns:a16="http://schemas.microsoft.com/office/drawing/2014/main" id="{A6B6C469-CA8B-16B6-23A8-6ACAEB1691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FEC92B-1DC1-A5A2-D61A-FE6B56598173}"/>
              </a:ext>
            </a:extLst>
          </p:cNvPr>
          <p:cNvSpPr>
            <a:spLocks noGrp="1"/>
          </p:cNvSpPr>
          <p:nvPr>
            <p:ph type="sldNum" sz="quarter" idx="12"/>
          </p:nvPr>
        </p:nvSpPr>
        <p:spPr/>
        <p:txBody>
          <a:bodyPr/>
          <a:lstStyle/>
          <a:p>
            <a:fld id="{9E4A8B07-2201-4EFB-8D62-F4503EA12EC4}" type="slidenum">
              <a:rPr lang="en-US" smtClean="0"/>
              <a:t>‹#›</a:t>
            </a:fld>
            <a:endParaRPr lang="en-US"/>
          </a:p>
        </p:txBody>
      </p:sp>
    </p:spTree>
    <p:extLst>
      <p:ext uri="{BB962C8B-B14F-4D97-AF65-F5344CB8AC3E}">
        <p14:creationId xmlns:p14="http://schemas.microsoft.com/office/powerpoint/2010/main" val="201088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F49F3-6C90-2CF2-D334-6B25CB2BFB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CD0118-671B-4C7A-4A42-7AFFB98AC0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52E4C0-DF59-3094-F2CB-2486CAC38782}"/>
              </a:ext>
            </a:extLst>
          </p:cNvPr>
          <p:cNvSpPr>
            <a:spLocks noGrp="1"/>
          </p:cNvSpPr>
          <p:nvPr>
            <p:ph type="dt" sz="half" idx="10"/>
          </p:nvPr>
        </p:nvSpPr>
        <p:spPr/>
        <p:txBody>
          <a:bodyPr/>
          <a:lstStyle/>
          <a:p>
            <a:fld id="{DF0F9652-95D3-4ACA-813C-A5FA4D23F5E7}" type="datetimeFigureOut">
              <a:rPr lang="en-US" smtClean="0"/>
              <a:t>25-Jun-25</a:t>
            </a:fld>
            <a:endParaRPr lang="en-US"/>
          </a:p>
        </p:txBody>
      </p:sp>
      <p:sp>
        <p:nvSpPr>
          <p:cNvPr id="5" name="Footer Placeholder 4">
            <a:extLst>
              <a:ext uri="{FF2B5EF4-FFF2-40B4-BE49-F238E27FC236}">
                <a16:creationId xmlns:a16="http://schemas.microsoft.com/office/drawing/2014/main" id="{2E6F381E-6958-E759-ABA1-53477A32DF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A90D98-BBEE-9ADE-0372-2BBF888293EE}"/>
              </a:ext>
            </a:extLst>
          </p:cNvPr>
          <p:cNvSpPr>
            <a:spLocks noGrp="1"/>
          </p:cNvSpPr>
          <p:nvPr>
            <p:ph type="sldNum" sz="quarter" idx="12"/>
          </p:nvPr>
        </p:nvSpPr>
        <p:spPr/>
        <p:txBody>
          <a:bodyPr/>
          <a:lstStyle/>
          <a:p>
            <a:fld id="{9E4A8B07-2201-4EFB-8D62-F4503EA12EC4}" type="slidenum">
              <a:rPr lang="en-US" smtClean="0"/>
              <a:t>‹#›</a:t>
            </a:fld>
            <a:endParaRPr lang="en-US"/>
          </a:p>
        </p:txBody>
      </p:sp>
    </p:spTree>
    <p:extLst>
      <p:ext uri="{BB962C8B-B14F-4D97-AF65-F5344CB8AC3E}">
        <p14:creationId xmlns:p14="http://schemas.microsoft.com/office/powerpoint/2010/main" val="1110956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D2B510-7E00-71E8-6FFA-4A3C94FCCF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B18019-E14F-5FA4-2F71-4EA4C7BE97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99CA90-2F73-65A6-7AEB-8C9B271D8B6E}"/>
              </a:ext>
            </a:extLst>
          </p:cNvPr>
          <p:cNvSpPr>
            <a:spLocks noGrp="1"/>
          </p:cNvSpPr>
          <p:nvPr>
            <p:ph type="dt" sz="half" idx="10"/>
          </p:nvPr>
        </p:nvSpPr>
        <p:spPr/>
        <p:txBody>
          <a:bodyPr/>
          <a:lstStyle/>
          <a:p>
            <a:fld id="{DF0F9652-95D3-4ACA-813C-A5FA4D23F5E7}" type="datetimeFigureOut">
              <a:rPr lang="en-US" smtClean="0"/>
              <a:t>25-Jun-25</a:t>
            </a:fld>
            <a:endParaRPr lang="en-US"/>
          </a:p>
        </p:txBody>
      </p:sp>
      <p:sp>
        <p:nvSpPr>
          <p:cNvPr id="5" name="Footer Placeholder 4">
            <a:extLst>
              <a:ext uri="{FF2B5EF4-FFF2-40B4-BE49-F238E27FC236}">
                <a16:creationId xmlns:a16="http://schemas.microsoft.com/office/drawing/2014/main" id="{AD0802E2-D1BC-D039-4A86-FD099697FF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FFBC1C-0675-F7AB-B573-1DE8A912FCD1}"/>
              </a:ext>
            </a:extLst>
          </p:cNvPr>
          <p:cNvSpPr>
            <a:spLocks noGrp="1"/>
          </p:cNvSpPr>
          <p:nvPr>
            <p:ph type="sldNum" sz="quarter" idx="12"/>
          </p:nvPr>
        </p:nvSpPr>
        <p:spPr/>
        <p:txBody>
          <a:bodyPr/>
          <a:lstStyle/>
          <a:p>
            <a:fld id="{9E4A8B07-2201-4EFB-8D62-F4503EA12EC4}" type="slidenum">
              <a:rPr lang="en-US" smtClean="0"/>
              <a:t>‹#›</a:t>
            </a:fld>
            <a:endParaRPr lang="en-US"/>
          </a:p>
        </p:txBody>
      </p:sp>
    </p:spTree>
    <p:extLst>
      <p:ext uri="{BB962C8B-B14F-4D97-AF65-F5344CB8AC3E}">
        <p14:creationId xmlns:p14="http://schemas.microsoft.com/office/powerpoint/2010/main" val="1904556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C55C1B-C50C-C78F-9DA6-A04A7AA533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28B60C-E92A-74D8-D17C-EA90E65833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C2F4C2-F16A-A891-B28C-34BBF38AD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0F9652-95D3-4ACA-813C-A5FA4D23F5E7}" type="datetimeFigureOut">
              <a:rPr lang="en-US" smtClean="0"/>
              <a:t>25-Jun-25</a:t>
            </a:fld>
            <a:endParaRPr lang="en-US"/>
          </a:p>
        </p:txBody>
      </p:sp>
      <p:sp>
        <p:nvSpPr>
          <p:cNvPr id="5" name="Footer Placeholder 4">
            <a:extLst>
              <a:ext uri="{FF2B5EF4-FFF2-40B4-BE49-F238E27FC236}">
                <a16:creationId xmlns:a16="http://schemas.microsoft.com/office/drawing/2014/main" id="{C8EBB3F4-A405-1282-A681-768DDC50CA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BD686E-4FDA-CDEA-110F-AD484CA8A2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4A8B07-2201-4EFB-8D62-F4503EA12EC4}" type="slidenum">
              <a:rPr lang="en-US" smtClean="0"/>
              <a:t>‹#›</a:t>
            </a:fld>
            <a:endParaRPr lang="en-US"/>
          </a:p>
        </p:txBody>
      </p:sp>
    </p:spTree>
    <p:extLst>
      <p:ext uri="{BB962C8B-B14F-4D97-AF65-F5344CB8AC3E}">
        <p14:creationId xmlns:p14="http://schemas.microsoft.com/office/powerpoint/2010/main" val="37583800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A97AD-C529-07CC-2F63-111DBCBFA8B2}"/>
              </a:ext>
            </a:extLst>
          </p:cNvPr>
          <p:cNvSpPr>
            <a:spLocks noGrp="1"/>
          </p:cNvSpPr>
          <p:nvPr>
            <p:ph type="ctrTitle"/>
          </p:nvPr>
        </p:nvSpPr>
        <p:spPr/>
        <p:txBody>
          <a:bodyPr>
            <a:normAutofit/>
          </a:bodyPr>
          <a:lstStyle/>
          <a:p>
            <a:r>
              <a:rPr lang="en-US" sz="4800" b="1" dirty="0"/>
              <a:t>Puberty and Menopause</a:t>
            </a:r>
          </a:p>
        </p:txBody>
      </p:sp>
      <p:sp>
        <p:nvSpPr>
          <p:cNvPr id="3" name="Subtitle 2">
            <a:extLst>
              <a:ext uri="{FF2B5EF4-FFF2-40B4-BE49-F238E27FC236}">
                <a16:creationId xmlns:a16="http://schemas.microsoft.com/office/drawing/2014/main" id="{CE9E8FDC-A207-7976-72B5-0327516B481D}"/>
              </a:ext>
            </a:extLst>
          </p:cNvPr>
          <p:cNvSpPr>
            <a:spLocks noGrp="1"/>
          </p:cNvSpPr>
          <p:nvPr>
            <p:ph type="subTitle" idx="1"/>
          </p:nvPr>
        </p:nvSpPr>
        <p:spPr>
          <a:xfrm>
            <a:off x="1524000" y="3781148"/>
            <a:ext cx="9144000" cy="1780666"/>
          </a:xfrm>
        </p:spPr>
        <p:txBody>
          <a:bodyPr>
            <a:normAutofit fontScale="62500" lnSpcReduction="20000"/>
          </a:bodyPr>
          <a:lstStyle/>
          <a:p>
            <a:r>
              <a:rPr lang="en-US" sz="2500" dirty="0">
                <a:latin typeface="Times New Roman" panose="02020603050405020304" pitchFamily="18" charset="0"/>
                <a:cs typeface="Times New Roman" panose="02020603050405020304" pitchFamily="18" charset="0"/>
              </a:rPr>
              <a:t>Date: 25-06-2025</a:t>
            </a:r>
          </a:p>
          <a:p>
            <a:r>
              <a:rPr lang="en-US" sz="2500" dirty="0">
                <a:latin typeface="Times New Roman" panose="02020603050405020304" pitchFamily="18" charset="0"/>
                <a:cs typeface="Times New Roman" panose="02020603050405020304" pitchFamily="18" charset="0"/>
              </a:rPr>
              <a:t>Dr. Yerra Vishnu Akhil Raj Kumar </a:t>
            </a:r>
          </a:p>
          <a:p>
            <a:r>
              <a:rPr lang="en-US" sz="2500" dirty="0">
                <a:latin typeface="Times New Roman" panose="02020603050405020304" pitchFamily="18" charset="0"/>
                <a:cs typeface="Times New Roman" panose="02020603050405020304" pitchFamily="18" charset="0"/>
              </a:rPr>
              <a:t>Senior Resident, AIIMS </a:t>
            </a:r>
            <a:r>
              <a:rPr lang="en-US" sz="2500" dirty="0" err="1">
                <a:latin typeface="Times New Roman" panose="02020603050405020304" pitchFamily="18" charset="0"/>
                <a:cs typeface="Times New Roman" panose="02020603050405020304" pitchFamily="18" charset="0"/>
              </a:rPr>
              <a:t>Bibinagar</a:t>
            </a:r>
            <a:endParaRPr lang="en-US" sz="2500" dirty="0">
              <a:latin typeface="Times New Roman" panose="02020603050405020304" pitchFamily="18" charset="0"/>
              <a:cs typeface="Times New Roman" panose="02020603050405020304" pitchFamily="18" charset="0"/>
            </a:endParaRPr>
          </a:p>
          <a:p>
            <a:r>
              <a:rPr lang="en-US" sz="2500" dirty="0">
                <a:latin typeface="Times New Roman" panose="02020603050405020304" pitchFamily="18" charset="0"/>
                <a:cs typeface="Times New Roman" panose="02020603050405020304" pitchFamily="18" charset="0"/>
              </a:rPr>
              <a:t>MBBS- AIIMS Patna</a:t>
            </a:r>
          </a:p>
          <a:p>
            <a:r>
              <a:rPr lang="en-US" sz="2500" dirty="0">
                <a:latin typeface="Times New Roman" panose="02020603050405020304" pitchFamily="18" charset="0"/>
                <a:cs typeface="Times New Roman" panose="02020603050405020304" pitchFamily="18" charset="0"/>
              </a:rPr>
              <a:t>Bio-Design Fellow- IIT Hyderabad</a:t>
            </a:r>
          </a:p>
          <a:p>
            <a:r>
              <a:rPr lang="en-US" sz="2500" dirty="0">
                <a:latin typeface="Times New Roman" panose="02020603050405020304" pitchFamily="18" charset="0"/>
                <a:cs typeface="Times New Roman" panose="02020603050405020304" pitchFamily="18" charset="0"/>
              </a:rPr>
              <a:t>MD Physiology- AIIMS Raipur</a:t>
            </a:r>
          </a:p>
          <a:p>
            <a:endParaRPr lang="en-US" dirty="0"/>
          </a:p>
        </p:txBody>
      </p:sp>
    </p:spTree>
    <p:extLst>
      <p:ext uri="{BB962C8B-B14F-4D97-AF65-F5344CB8AC3E}">
        <p14:creationId xmlns:p14="http://schemas.microsoft.com/office/powerpoint/2010/main" val="1871572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4B820-9BDD-6C38-D0AE-89A1750DE7EE}"/>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68DFCAC8-48F9-FACF-E62D-F617886B0A52}"/>
              </a:ext>
            </a:extLst>
          </p:cNvPr>
          <p:cNvSpPr>
            <a:spLocks noGrp="1"/>
          </p:cNvSpPr>
          <p:nvPr>
            <p:ph idx="1"/>
          </p:nvPr>
        </p:nvSpPr>
        <p:spPr/>
        <p:txBody>
          <a:bodyPr/>
          <a:lstStyle/>
          <a:p>
            <a:r>
              <a:rPr lang="en-US" dirty="0"/>
              <a:t>Case Scenarios</a:t>
            </a:r>
          </a:p>
          <a:p>
            <a:r>
              <a:rPr lang="en-US" dirty="0"/>
              <a:t>Puberty and abnormalities</a:t>
            </a:r>
          </a:p>
          <a:p>
            <a:r>
              <a:rPr lang="en-US" dirty="0"/>
              <a:t>Menopause and changes</a:t>
            </a:r>
          </a:p>
          <a:p>
            <a:r>
              <a:rPr lang="en-US" dirty="0"/>
              <a:t>Recent advances</a:t>
            </a:r>
          </a:p>
          <a:p>
            <a:pPr marL="0" indent="0">
              <a:buNone/>
            </a:pPr>
            <a:endParaRPr lang="en-US" dirty="0"/>
          </a:p>
          <a:p>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862728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0275D4-AFA7-C6EE-B761-32F7B551F4FA}"/>
              </a:ext>
            </a:extLst>
          </p:cNvPr>
          <p:cNvSpPr>
            <a:spLocks noGrp="1"/>
          </p:cNvSpPr>
          <p:nvPr>
            <p:ph type="title"/>
          </p:nvPr>
        </p:nvSpPr>
        <p:spPr>
          <a:xfrm>
            <a:off x="838200" y="2766218"/>
            <a:ext cx="10515600" cy="1325563"/>
          </a:xfrm>
        </p:spPr>
        <p:txBody>
          <a:bodyPr>
            <a:normAutofit/>
          </a:bodyPr>
          <a:lstStyle/>
          <a:p>
            <a:pPr algn="ctr"/>
            <a:r>
              <a:rPr lang="en-US" sz="4800" b="1" dirty="0"/>
              <a:t>Case Scenarios</a:t>
            </a:r>
          </a:p>
        </p:txBody>
      </p:sp>
    </p:spTree>
    <p:extLst>
      <p:ext uri="{BB962C8B-B14F-4D97-AF65-F5344CB8AC3E}">
        <p14:creationId xmlns:p14="http://schemas.microsoft.com/office/powerpoint/2010/main" val="145682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9E2A2B-3209-9DD3-0C3C-31F50F8B6F2C}"/>
              </a:ext>
            </a:extLst>
          </p:cNvPr>
          <p:cNvSpPr>
            <a:spLocks noGrp="1"/>
          </p:cNvSpPr>
          <p:nvPr>
            <p:ph type="title"/>
          </p:nvPr>
        </p:nvSpPr>
        <p:spPr/>
        <p:txBody>
          <a:bodyPr/>
          <a:lstStyle/>
          <a:p>
            <a:r>
              <a:rPr lang="en-US" b="1" dirty="0"/>
              <a:t>Case 1: True Precocious Puberty</a:t>
            </a:r>
            <a:br>
              <a:rPr lang="en-US" b="1" dirty="0"/>
            </a:br>
            <a:endParaRPr lang="en-US" dirty="0"/>
          </a:p>
        </p:txBody>
      </p:sp>
      <p:sp>
        <p:nvSpPr>
          <p:cNvPr id="4" name="Content Placeholder 3">
            <a:extLst>
              <a:ext uri="{FF2B5EF4-FFF2-40B4-BE49-F238E27FC236}">
                <a16:creationId xmlns:a16="http://schemas.microsoft.com/office/drawing/2014/main" id="{AE938CB7-D78A-75F9-6D48-052E91B9C6B2}"/>
              </a:ext>
            </a:extLst>
          </p:cNvPr>
          <p:cNvSpPr>
            <a:spLocks noGrp="1"/>
          </p:cNvSpPr>
          <p:nvPr>
            <p:ph idx="1"/>
          </p:nvPr>
        </p:nvSpPr>
        <p:spPr>
          <a:xfrm>
            <a:off x="838200" y="1102936"/>
            <a:ext cx="10515600" cy="5476973"/>
          </a:xfrm>
        </p:spPr>
        <p:txBody>
          <a:bodyPr>
            <a:normAutofit fontScale="70000" lnSpcReduction="20000"/>
          </a:bodyPr>
          <a:lstStyle/>
          <a:p>
            <a:pPr marL="0" indent="0">
              <a:lnSpc>
                <a:spcPct val="160000"/>
              </a:lnSpc>
              <a:buNone/>
            </a:pPr>
            <a:r>
              <a:rPr lang="en-US" sz="2700" dirty="0"/>
              <a:t>Ananya, a 7-year-old girl from a semi-urban area in Telangana, was brought to the pediatric outpatient department by her mother with complaints of early breast development and vaginal bleeding. Her mother noted that breast enlargement began around six and a half years of age and recently observed two episodes of blood-stained undergarments within the last two months. There was no history of any head trauma, neurological symptoms, or long-standing illness. The child had been otherwise healthy with normal milestones and was performing averagely in school. Her dietary intake was adequate, and no behavioral disturbances were reported. On examination, she appeared healthy with a height and weight above the 75th percentile for her age. Her secondary sexual characteristics were notable—Tanner Stage III breast development and Pubic hair at Stage II. There were no signs of virilization or any abdominal masses. Neurological and systemic examinations were unremarkable. This clinical presentation is suggestive of </a:t>
            </a:r>
            <a:r>
              <a:rPr lang="en-US" sz="2700" b="1" dirty="0"/>
              <a:t>central (true) precocious puberty</a:t>
            </a:r>
            <a:r>
              <a:rPr lang="en-US" sz="2700" dirty="0"/>
              <a:t>, and investigations such as serum LH, FSH, estradiol, and bone age would help confirm the diagnosis. A brain MRI may be warranted to rule out any hypothalamic or pituitary pathology.</a:t>
            </a:r>
          </a:p>
          <a:p>
            <a:pPr marL="0" indent="0">
              <a:buNone/>
            </a:pPr>
            <a:endParaRPr lang="en-US" dirty="0"/>
          </a:p>
        </p:txBody>
      </p:sp>
    </p:spTree>
    <p:extLst>
      <p:ext uri="{BB962C8B-B14F-4D97-AF65-F5344CB8AC3E}">
        <p14:creationId xmlns:p14="http://schemas.microsoft.com/office/powerpoint/2010/main" val="1827582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DE9F0-C976-C639-3043-A3E59E24F359}"/>
              </a:ext>
            </a:extLst>
          </p:cNvPr>
          <p:cNvSpPr>
            <a:spLocks noGrp="1"/>
          </p:cNvSpPr>
          <p:nvPr>
            <p:ph type="title"/>
          </p:nvPr>
        </p:nvSpPr>
        <p:spPr>
          <a:xfrm>
            <a:off x="838200" y="204869"/>
            <a:ext cx="10515600" cy="1265712"/>
          </a:xfrm>
        </p:spPr>
        <p:txBody>
          <a:bodyPr>
            <a:normAutofit/>
          </a:bodyPr>
          <a:lstStyle/>
          <a:p>
            <a:r>
              <a:rPr lang="en-US" b="1" dirty="0"/>
              <a:t>Case 2: Precocious </a:t>
            </a:r>
            <a:r>
              <a:rPr lang="en-US" b="1" dirty="0" err="1"/>
              <a:t>Pseudopuberty</a:t>
            </a:r>
            <a:endParaRPr lang="en-US" dirty="0"/>
          </a:p>
        </p:txBody>
      </p:sp>
      <p:sp>
        <p:nvSpPr>
          <p:cNvPr id="3" name="Content Placeholder 2">
            <a:extLst>
              <a:ext uri="{FF2B5EF4-FFF2-40B4-BE49-F238E27FC236}">
                <a16:creationId xmlns:a16="http://schemas.microsoft.com/office/drawing/2014/main" id="{BB106132-4643-E353-6115-4C1C81E889B9}"/>
              </a:ext>
            </a:extLst>
          </p:cNvPr>
          <p:cNvSpPr>
            <a:spLocks noGrp="1"/>
          </p:cNvSpPr>
          <p:nvPr>
            <p:ph idx="1"/>
          </p:nvPr>
        </p:nvSpPr>
        <p:spPr>
          <a:xfrm>
            <a:off x="838200" y="1470581"/>
            <a:ext cx="10515600" cy="4706382"/>
          </a:xfrm>
        </p:spPr>
        <p:txBody>
          <a:bodyPr>
            <a:normAutofit fontScale="92500" lnSpcReduction="20000"/>
          </a:bodyPr>
          <a:lstStyle/>
          <a:p>
            <a:pPr marL="0" indent="0">
              <a:lnSpc>
                <a:spcPct val="150000"/>
              </a:lnSpc>
              <a:buNone/>
            </a:pPr>
            <a:r>
              <a:rPr lang="en-US" sz="2100" dirty="0"/>
              <a:t>Raju, an 8-year-old boy, was brought by his father who was concerned about the early onset of body hair and deepening of voice. The father also mentioned that the child had started exhibiting acne and more aggressive behavior in the last 6 months. Raju had no significant medical history but had recovered from a jaundice episode about a year ago. The family did not report any history of early puberty, but they did mention that the boy frequently consumed local herbal tonics and junk food from roadside stalls. On clinical examination, Raju had oily skin, visible acne, and early pubic hair growth at Tanner Stage III. However, his testicular volume was only 3 mL—small for his age and inconsistent with the degree of pubertal signs. His blood pressure was mildly elevated, and hepatomegaly was noted on abdominal palpation. This mismatch between testicular development and secondary sexual characteristics suggests </a:t>
            </a:r>
            <a:r>
              <a:rPr lang="en-US" sz="2100" b="1" dirty="0"/>
              <a:t>precocious </a:t>
            </a:r>
            <a:r>
              <a:rPr lang="en-US" sz="2100" b="1" dirty="0" err="1"/>
              <a:t>pseudopuberty</a:t>
            </a:r>
            <a:r>
              <a:rPr lang="en-US" sz="2100" dirty="0"/>
              <a:t>, likely due to peripheral androgen excess. The differential diagnosis would include adrenal tumors and congenital adrenal hyperplasia, and further evaluation would include serum DHEA-S, 17-OH progesterone, and abdominal imaging.</a:t>
            </a:r>
          </a:p>
          <a:p>
            <a:pPr marL="0" indent="0">
              <a:buNone/>
            </a:pPr>
            <a:endParaRPr lang="en-US" dirty="0"/>
          </a:p>
        </p:txBody>
      </p:sp>
    </p:spTree>
    <p:extLst>
      <p:ext uri="{BB962C8B-B14F-4D97-AF65-F5344CB8AC3E}">
        <p14:creationId xmlns:p14="http://schemas.microsoft.com/office/powerpoint/2010/main" val="3501748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8C12A-4170-6A94-DFF8-EE28CE29AC50}"/>
              </a:ext>
            </a:extLst>
          </p:cNvPr>
          <p:cNvSpPr>
            <a:spLocks noGrp="1"/>
          </p:cNvSpPr>
          <p:nvPr>
            <p:ph type="title"/>
          </p:nvPr>
        </p:nvSpPr>
        <p:spPr>
          <a:xfrm>
            <a:off x="838200" y="204870"/>
            <a:ext cx="10515600" cy="1325563"/>
          </a:xfrm>
        </p:spPr>
        <p:txBody>
          <a:bodyPr/>
          <a:lstStyle/>
          <a:p>
            <a:r>
              <a:rPr lang="en-US" b="1" dirty="0"/>
              <a:t>Case 3: Delayed Puberty</a:t>
            </a:r>
            <a:endParaRPr lang="en-US" dirty="0"/>
          </a:p>
        </p:txBody>
      </p:sp>
      <p:sp>
        <p:nvSpPr>
          <p:cNvPr id="3" name="Content Placeholder 2">
            <a:extLst>
              <a:ext uri="{FF2B5EF4-FFF2-40B4-BE49-F238E27FC236}">
                <a16:creationId xmlns:a16="http://schemas.microsoft.com/office/drawing/2014/main" id="{85F29854-3582-6653-1323-C42529242EB1}"/>
              </a:ext>
            </a:extLst>
          </p:cNvPr>
          <p:cNvSpPr>
            <a:spLocks noGrp="1"/>
          </p:cNvSpPr>
          <p:nvPr>
            <p:ph idx="1"/>
          </p:nvPr>
        </p:nvSpPr>
        <p:spPr>
          <a:xfrm>
            <a:off x="838200" y="1348033"/>
            <a:ext cx="10515600" cy="5144842"/>
          </a:xfrm>
        </p:spPr>
        <p:txBody>
          <a:bodyPr>
            <a:normAutofit lnSpcReduction="10000"/>
          </a:bodyPr>
          <a:lstStyle/>
          <a:p>
            <a:pPr marL="0" indent="0">
              <a:lnSpc>
                <a:spcPct val="150000"/>
              </a:lnSpc>
              <a:buNone/>
            </a:pPr>
            <a:r>
              <a:rPr lang="en-US" sz="1900" dirty="0"/>
              <a:t>Kavya, a 16-year-old girl studying in Class 11, presented with concerns about not attaining menarche. She reported no breast development and expressed anxiety after being questioned during a recent school health camp. She had a known history of hypothyroidism in childhood but had not been compliant with medications in recent years. Her mother had attained menarche at the age of 14. Kavya stays in a girls’ hostel and follows a strict vegetarian diet. She admitted to eating only once or twice daily and had recently experienced noticeable weight loss. She also mentioned a high level of academic stress and reported feeling fatigued and cold more frequently than before. On examination, Kavya was underweight with a low BMI, had dry skin, and showed no development of secondary sexual characteristics—Tanner Stage I breasts and no pubic or axillary hair. There was no goiter or systemic abnormality. This presentation is consistent with </a:t>
            </a:r>
            <a:r>
              <a:rPr lang="en-US" sz="1900" b="1" dirty="0"/>
              <a:t>delayed puberty</a:t>
            </a:r>
            <a:r>
              <a:rPr lang="en-US" sz="1900" dirty="0"/>
              <a:t>, most likely due to a combination of untreated hypothyroidism and functional hypothalamic amenorrhea due to nutritional deficiency. Workup would include TSH, free T4, LH, FSH, prolactin, and pelvic ultrasound.</a:t>
            </a:r>
          </a:p>
          <a:p>
            <a:pPr marL="0" indent="0">
              <a:buNone/>
            </a:pPr>
            <a:endParaRPr lang="en-US" dirty="0"/>
          </a:p>
        </p:txBody>
      </p:sp>
    </p:spTree>
    <p:extLst>
      <p:ext uri="{BB962C8B-B14F-4D97-AF65-F5344CB8AC3E}">
        <p14:creationId xmlns:p14="http://schemas.microsoft.com/office/powerpoint/2010/main" val="3306170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FC3AE-684C-F9A2-4AA4-09D4B672135B}"/>
              </a:ext>
            </a:extLst>
          </p:cNvPr>
          <p:cNvSpPr>
            <a:spLocks noGrp="1"/>
          </p:cNvSpPr>
          <p:nvPr>
            <p:ph type="title"/>
          </p:nvPr>
        </p:nvSpPr>
        <p:spPr>
          <a:xfrm>
            <a:off x="838200" y="167162"/>
            <a:ext cx="10515600" cy="1325563"/>
          </a:xfrm>
        </p:spPr>
        <p:txBody>
          <a:bodyPr/>
          <a:lstStyle/>
          <a:p>
            <a:r>
              <a:rPr lang="en-US" b="1" dirty="0"/>
              <a:t>Case 4: Menopause</a:t>
            </a:r>
            <a:endParaRPr lang="en-US" dirty="0"/>
          </a:p>
        </p:txBody>
      </p:sp>
      <p:sp>
        <p:nvSpPr>
          <p:cNvPr id="3" name="Content Placeholder 2">
            <a:extLst>
              <a:ext uri="{FF2B5EF4-FFF2-40B4-BE49-F238E27FC236}">
                <a16:creationId xmlns:a16="http://schemas.microsoft.com/office/drawing/2014/main" id="{9D41C508-9D5D-E7B6-F735-BFD3D15FF3B3}"/>
              </a:ext>
            </a:extLst>
          </p:cNvPr>
          <p:cNvSpPr>
            <a:spLocks noGrp="1"/>
          </p:cNvSpPr>
          <p:nvPr>
            <p:ph idx="1"/>
          </p:nvPr>
        </p:nvSpPr>
        <p:spPr>
          <a:xfrm>
            <a:off x="838200" y="1376313"/>
            <a:ext cx="10515600" cy="5109328"/>
          </a:xfrm>
        </p:spPr>
        <p:txBody>
          <a:bodyPr>
            <a:normAutofit fontScale="70000" lnSpcReduction="20000"/>
          </a:bodyPr>
          <a:lstStyle/>
          <a:p>
            <a:pPr marL="0" indent="0">
              <a:lnSpc>
                <a:spcPct val="160000"/>
              </a:lnSpc>
              <a:buNone/>
            </a:pPr>
            <a:r>
              <a:rPr lang="en-US" sz="2500" dirty="0"/>
              <a:t>Kamala, a 48-year-old woman from a rural village in Andhra Pradesh, presented with complaints of irregular menstrual cycles for the past 8 months and associated symptoms such as hot flashes, sleep disturbances, and mood irritability. She reported her last period was 4 months ago. She also complained of occasional night sweats and described feeling more tired and short-tempered lately. Kamala had three full-term pregnancies and underwent tubectomy 20 years ago. She did not have any known medical illnesses like diabetes or hypertension. She chews tobacco occasionally and reported mild back pain while working in the fields. Her diet was poor in dairy and calcium-rich foods. On examination, she had stable vitals with a slightly elevated blood pressure (132/84 mmHg). Her BMI was within normal range, but her skin was dry, and she showed signs of mild hair thinning. Breast examination was normal. Pelvic examination revealed vaginal atrophy. Systemic examination was unremarkable. This case is typical of </a:t>
            </a:r>
            <a:r>
              <a:rPr lang="en-US" sz="2500" b="1" dirty="0"/>
              <a:t>natural menopause</a:t>
            </a:r>
            <a:r>
              <a:rPr lang="en-US" sz="2500" dirty="0"/>
              <a:t>, and the symptoms suggest vasomotor instability and estrogen deficiency. Laboratory evaluation may show elevated FSH and low estradiol levels. She should be counselled about lifestyle changes, calcium and vitamin D supplementation, and possibly non-hormonal therapy unless hormone replacement is indicated and safe.</a:t>
            </a:r>
          </a:p>
          <a:p>
            <a:pPr marL="0" indent="0">
              <a:buNone/>
            </a:pPr>
            <a:endParaRPr lang="en-US" dirty="0"/>
          </a:p>
        </p:txBody>
      </p:sp>
    </p:spTree>
    <p:extLst>
      <p:ext uri="{BB962C8B-B14F-4D97-AF65-F5344CB8AC3E}">
        <p14:creationId xmlns:p14="http://schemas.microsoft.com/office/powerpoint/2010/main" val="519660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FCAE0-F38D-31B4-43AD-B03E83FFD78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5AAC89-C1C0-9517-73BC-9C5C73DE89F2}"/>
              </a:ext>
            </a:extLst>
          </p:cNvPr>
          <p:cNvSpPr>
            <a:spLocks noGrp="1"/>
          </p:cNvSpPr>
          <p:nvPr>
            <p:ph type="title"/>
          </p:nvPr>
        </p:nvSpPr>
        <p:spPr>
          <a:xfrm>
            <a:off x="697190" y="2766218"/>
            <a:ext cx="10797619" cy="1325563"/>
          </a:xfrm>
        </p:spPr>
        <p:txBody>
          <a:bodyPr>
            <a:normAutofit/>
          </a:bodyPr>
          <a:lstStyle/>
          <a:p>
            <a:pPr algn="ctr"/>
            <a:r>
              <a:rPr lang="en-US" sz="4800" b="1" dirty="0"/>
              <a:t>Puberty and Abnormalities</a:t>
            </a:r>
          </a:p>
        </p:txBody>
      </p:sp>
    </p:spTree>
    <p:extLst>
      <p:ext uri="{BB962C8B-B14F-4D97-AF65-F5344CB8AC3E}">
        <p14:creationId xmlns:p14="http://schemas.microsoft.com/office/powerpoint/2010/main" val="2339509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D4812-B532-2994-17BF-1F1E1D8C14C0}"/>
              </a:ext>
            </a:extLst>
          </p:cNvPr>
          <p:cNvSpPr>
            <a:spLocks noGrp="1"/>
          </p:cNvSpPr>
          <p:nvPr>
            <p:ph type="title"/>
          </p:nvPr>
        </p:nvSpPr>
        <p:spPr/>
        <p:txBody>
          <a:bodyPr/>
          <a:lstStyle/>
          <a:p>
            <a:r>
              <a:rPr lang="en-US" b="1" dirty="0"/>
              <a:t>Definition</a:t>
            </a:r>
          </a:p>
        </p:txBody>
      </p:sp>
      <p:sp>
        <p:nvSpPr>
          <p:cNvPr id="3" name="Content Placeholder 2">
            <a:extLst>
              <a:ext uri="{FF2B5EF4-FFF2-40B4-BE49-F238E27FC236}">
                <a16:creationId xmlns:a16="http://schemas.microsoft.com/office/drawing/2014/main" id="{1F208C66-1D36-FFCF-6370-84EF621FC418}"/>
              </a:ext>
            </a:extLst>
          </p:cNvPr>
          <p:cNvSpPr>
            <a:spLocks noGrp="1"/>
          </p:cNvSpPr>
          <p:nvPr>
            <p:ph idx="1"/>
          </p:nvPr>
        </p:nvSpPr>
        <p:spPr/>
        <p:txBody>
          <a:bodyPr/>
          <a:lstStyle/>
          <a:p>
            <a:pPr marL="0" indent="0">
              <a:buNone/>
            </a:pPr>
            <a:r>
              <a:rPr lang="en-US" dirty="0"/>
              <a:t>Period when the endocrine and gametogenic functions of the gonads first developed to the point where reproduction is possible.</a:t>
            </a:r>
          </a:p>
          <a:p>
            <a:pPr marL="0" indent="0">
              <a:buNone/>
            </a:pPr>
            <a:endParaRPr lang="en-US" dirty="0"/>
          </a:p>
          <a:p>
            <a:pPr marL="0" indent="0">
              <a:buNone/>
            </a:pPr>
            <a:r>
              <a:rPr lang="en-US" i="1" dirty="0"/>
              <a:t>Adolescence: </a:t>
            </a:r>
            <a:r>
              <a:rPr lang="en-US" dirty="0"/>
              <a:t>Transient period between childhood and adulthood during which reproductive function is attained.</a:t>
            </a:r>
          </a:p>
          <a:p>
            <a:pPr marL="0" indent="0">
              <a:buNone/>
            </a:pPr>
            <a:endParaRPr lang="en-US" dirty="0"/>
          </a:p>
        </p:txBody>
      </p:sp>
    </p:spTree>
    <p:extLst>
      <p:ext uri="{BB962C8B-B14F-4D97-AF65-F5344CB8AC3E}">
        <p14:creationId xmlns:p14="http://schemas.microsoft.com/office/powerpoint/2010/main" val="3937435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EBBFE-B2E1-D352-8379-9BAD3D4E1A4B}"/>
              </a:ext>
            </a:extLst>
          </p:cNvPr>
          <p:cNvSpPr>
            <a:spLocks noGrp="1"/>
          </p:cNvSpPr>
          <p:nvPr>
            <p:ph type="title"/>
          </p:nvPr>
        </p:nvSpPr>
        <p:spPr/>
        <p:txBody>
          <a:bodyPr/>
          <a:lstStyle/>
          <a:p>
            <a:r>
              <a:rPr lang="en-US" b="1" dirty="0"/>
              <a:t>Changes in puberty</a:t>
            </a:r>
          </a:p>
        </p:txBody>
      </p:sp>
      <p:sp>
        <p:nvSpPr>
          <p:cNvPr id="3" name="Content Placeholder 2">
            <a:extLst>
              <a:ext uri="{FF2B5EF4-FFF2-40B4-BE49-F238E27FC236}">
                <a16:creationId xmlns:a16="http://schemas.microsoft.com/office/drawing/2014/main" id="{1120473A-A2A9-1185-E27D-C93DE718C2DD}"/>
              </a:ext>
            </a:extLst>
          </p:cNvPr>
          <p:cNvSpPr>
            <a:spLocks noGrp="1"/>
          </p:cNvSpPr>
          <p:nvPr>
            <p:ph idx="1"/>
          </p:nvPr>
        </p:nvSpPr>
        <p:spPr/>
        <p:txBody>
          <a:bodyPr/>
          <a:lstStyle/>
          <a:p>
            <a:r>
              <a:rPr lang="en-US" dirty="0"/>
              <a:t>Appearance of secondary sexual characters</a:t>
            </a:r>
          </a:p>
          <a:p>
            <a:r>
              <a:rPr lang="en-US" dirty="0"/>
              <a:t>Adolescent growth spurt</a:t>
            </a:r>
          </a:p>
          <a:p>
            <a:r>
              <a:rPr lang="en-US" dirty="0"/>
              <a:t>Start of production of mature gametes by gonads</a:t>
            </a:r>
          </a:p>
          <a:p>
            <a:r>
              <a:rPr lang="en-US" dirty="0"/>
              <a:t>Fat deposition characteristic of male/ female</a:t>
            </a:r>
          </a:p>
          <a:p>
            <a:r>
              <a:rPr lang="en-US" dirty="0"/>
              <a:t>Psychological changes</a:t>
            </a:r>
          </a:p>
          <a:p>
            <a:pPr marL="0" indent="0">
              <a:buNone/>
            </a:pPr>
            <a:endParaRPr lang="en-US" dirty="0"/>
          </a:p>
        </p:txBody>
      </p:sp>
    </p:spTree>
    <p:extLst>
      <p:ext uri="{BB962C8B-B14F-4D97-AF65-F5344CB8AC3E}">
        <p14:creationId xmlns:p14="http://schemas.microsoft.com/office/powerpoint/2010/main" val="2872428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B4663C-EECA-1550-C9D0-3A762BB02451}"/>
              </a:ext>
            </a:extLst>
          </p:cNvPr>
          <p:cNvSpPr>
            <a:spLocks noGrp="1"/>
          </p:cNvSpPr>
          <p:nvPr>
            <p:ph type="title"/>
          </p:nvPr>
        </p:nvSpPr>
        <p:spPr/>
        <p:txBody>
          <a:bodyPr/>
          <a:lstStyle/>
          <a:p>
            <a:r>
              <a:rPr lang="en-US" b="1" dirty="0"/>
              <a:t>Changes at puberty- timeline</a:t>
            </a:r>
          </a:p>
        </p:txBody>
      </p:sp>
      <p:sp>
        <p:nvSpPr>
          <p:cNvPr id="5" name="Text Placeholder 4">
            <a:extLst>
              <a:ext uri="{FF2B5EF4-FFF2-40B4-BE49-F238E27FC236}">
                <a16:creationId xmlns:a16="http://schemas.microsoft.com/office/drawing/2014/main" id="{AD5E770E-3B42-9ED5-A881-761F34569933}"/>
              </a:ext>
            </a:extLst>
          </p:cNvPr>
          <p:cNvSpPr>
            <a:spLocks noGrp="1"/>
          </p:cNvSpPr>
          <p:nvPr>
            <p:ph type="body" idx="1"/>
          </p:nvPr>
        </p:nvSpPr>
        <p:spPr/>
        <p:txBody>
          <a:bodyPr/>
          <a:lstStyle/>
          <a:p>
            <a:pPr algn="ctr"/>
            <a:r>
              <a:rPr lang="en-US" dirty="0"/>
              <a:t>Male	</a:t>
            </a:r>
          </a:p>
        </p:txBody>
      </p:sp>
      <p:sp>
        <p:nvSpPr>
          <p:cNvPr id="6" name="Content Placeholder 5">
            <a:extLst>
              <a:ext uri="{FF2B5EF4-FFF2-40B4-BE49-F238E27FC236}">
                <a16:creationId xmlns:a16="http://schemas.microsoft.com/office/drawing/2014/main" id="{0FD335FA-800A-A237-B563-03E56105B9F0}"/>
              </a:ext>
            </a:extLst>
          </p:cNvPr>
          <p:cNvSpPr>
            <a:spLocks noGrp="1"/>
          </p:cNvSpPr>
          <p:nvPr>
            <p:ph sz="half" idx="2"/>
          </p:nvPr>
        </p:nvSpPr>
        <p:spPr/>
        <p:txBody>
          <a:bodyPr>
            <a:normAutofit lnSpcReduction="10000"/>
          </a:bodyPr>
          <a:lstStyle/>
          <a:p>
            <a:r>
              <a:rPr lang="en-US" dirty="0"/>
              <a:t>Increase in testicular size (9-13yrs)</a:t>
            </a:r>
          </a:p>
          <a:p>
            <a:r>
              <a:rPr lang="en-US" dirty="0"/>
              <a:t>Growth of pubic hair and penis</a:t>
            </a:r>
          </a:p>
          <a:p>
            <a:r>
              <a:rPr lang="en-US" dirty="0"/>
              <a:t>Growth of hairs over face/ underarm </a:t>
            </a:r>
          </a:p>
          <a:p>
            <a:r>
              <a:rPr lang="en-US" dirty="0"/>
              <a:t>Deepening of voice</a:t>
            </a:r>
          </a:p>
        </p:txBody>
      </p:sp>
      <p:sp>
        <p:nvSpPr>
          <p:cNvPr id="7" name="Text Placeholder 6">
            <a:extLst>
              <a:ext uri="{FF2B5EF4-FFF2-40B4-BE49-F238E27FC236}">
                <a16:creationId xmlns:a16="http://schemas.microsoft.com/office/drawing/2014/main" id="{415543E2-0DA7-EA81-46D5-BB9249B5279D}"/>
              </a:ext>
            </a:extLst>
          </p:cNvPr>
          <p:cNvSpPr>
            <a:spLocks noGrp="1"/>
          </p:cNvSpPr>
          <p:nvPr>
            <p:ph type="body" sz="quarter" idx="3"/>
          </p:nvPr>
        </p:nvSpPr>
        <p:spPr/>
        <p:txBody>
          <a:bodyPr/>
          <a:lstStyle/>
          <a:p>
            <a:pPr algn="ctr"/>
            <a:r>
              <a:rPr lang="en-US" dirty="0"/>
              <a:t>Female</a:t>
            </a:r>
          </a:p>
        </p:txBody>
      </p:sp>
      <p:sp>
        <p:nvSpPr>
          <p:cNvPr id="8" name="Content Placeholder 7">
            <a:extLst>
              <a:ext uri="{FF2B5EF4-FFF2-40B4-BE49-F238E27FC236}">
                <a16:creationId xmlns:a16="http://schemas.microsoft.com/office/drawing/2014/main" id="{4D66683A-22C4-96BC-F987-F89B3BDB318B}"/>
              </a:ext>
            </a:extLst>
          </p:cNvPr>
          <p:cNvSpPr>
            <a:spLocks noGrp="1"/>
          </p:cNvSpPr>
          <p:nvPr>
            <p:ph sz="quarter" idx="4"/>
          </p:nvPr>
        </p:nvSpPr>
        <p:spPr/>
        <p:txBody>
          <a:bodyPr>
            <a:normAutofit lnSpcReduction="10000"/>
          </a:bodyPr>
          <a:lstStyle/>
          <a:p>
            <a:r>
              <a:rPr lang="en-US" dirty="0"/>
              <a:t>First event: Enlargement of breast (8-10 years) (Thelarche)</a:t>
            </a:r>
          </a:p>
          <a:p>
            <a:r>
              <a:rPr lang="en-US" dirty="0"/>
              <a:t>Second: Pubic hair growth (pubarche). Occurs after 6 months of thelarche. Two years after pubarche, Axillary hair will begin to grow</a:t>
            </a:r>
          </a:p>
          <a:p>
            <a:r>
              <a:rPr lang="en-US" dirty="0"/>
              <a:t>Last: Starting of menstruation (Menarche 12-13 years)</a:t>
            </a:r>
          </a:p>
        </p:txBody>
      </p:sp>
    </p:spTree>
    <p:extLst>
      <p:ext uri="{BB962C8B-B14F-4D97-AF65-F5344CB8AC3E}">
        <p14:creationId xmlns:p14="http://schemas.microsoft.com/office/powerpoint/2010/main" val="3545623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966726A-4864-9639-C78B-102B18B9DD26}"/>
              </a:ext>
            </a:extLst>
          </p:cNvPr>
          <p:cNvSpPr>
            <a:spLocks noGrp="1"/>
          </p:cNvSpPr>
          <p:nvPr>
            <p:ph type="title"/>
          </p:nvPr>
        </p:nvSpPr>
        <p:spPr/>
        <p:txBody>
          <a:bodyPr/>
          <a:lstStyle/>
          <a:p>
            <a:r>
              <a:rPr lang="en-US" dirty="0"/>
              <a:t>Mechanism of onset of puberty </a:t>
            </a:r>
          </a:p>
        </p:txBody>
      </p:sp>
      <p:sp>
        <p:nvSpPr>
          <p:cNvPr id="8" name="Content Placeholder 7">
            <a:extLst>
              <a:ext uri="{FF2B5EF4-FFF2-40B4-BE49-F238E27FC236}">
                <a16:creationId xmlns:a16="http://schemas.microsoft.com/office/drawing/2014/main" id="{0EFC3E5C-FECE-292A-25E1-C18F8E86FE5C}"/>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dirty="0"/>
              <a:t>Mainly by </a:t>
            </a:r>
            <a:r>
              <a:rPr lang="en-US" sz="3600" b="1" dirty="0"/>
              <a:t>increase in the frequency of GnRH pulses </a:t>
            </a:r>
            <a:r>
              <a:rPr lang="en-US" dirty="0"/>
              <a:t>from hypothalamus</a:t>
            </a:r>
          </a:p>
        </p:txBody>
      </p:sp>
    </p:spTree>
    <p:extLst>
      <p:ext uri="{BB962C8B-B14F-4D97-AF65-F5344CB8AC3E}">
        <p14:creationId xmlns:p14="http://schemas.microsoft.com/office/powerpoint/2010/main" val="3117859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AE39E-C4AA-6862-44C2-005D5792D975}"/>
              </a:ext>
            </a:extLst>
          </p:cNvPr>
          <p:cNvSpPr>
            <a:spLocks noGrp="1"/>
          </p:cNvSpPr>
          <p:nvPr>
            <p:ph type="title"/>
          </p:nvPr>
        </p:nvSpPr>
        <p:spPr>
          <a:xfrm>
            <a:off x="838200" y="383979"/>
            <a:ext cx="10766196" cy="1325563"/>
          </a:xfrm>
        </p:spPr>
        <p:txBody>
          <a:bodyPr/>
          <a:lstStyle/>
          <a:p>
            <a:r>
              <a:rPr lang="en-US" b="1" dirty="0"/>
              <a:t>Stimuli causing GnRH pulse frequency increase</a:t>
            </a:r>
          </a:p>
        </p:txBody>
      </p:sp>
      <p:sp>
        <p:nvSpPr>
          <p:cNvPr id="3" name="Content Placeholder 2">
            <a:extLst>
              <a:ext uri="{FF2B5EF4-FFF2-40B4-BE49-F238E27FC236}">
                <a16:creationId xmlns:a16="http://schemas.microsoft.com/office/drawing/2014/main" id="{04367E39-8E64-6F80-C74F-B832A3F35771}"/>
              </a:ext>
            </a:extLst>
          </p:cNvPr>
          <p:cNvSpPr>
            <a:spLocks noGrp="1"/>
          </p:cNvSpPr>
          <p:nvPr>
            <p:ph idx="1"/>
          </p:nvPr>
        </p:nvSpPr>
        <p:spPr/>
        <p:txBody>
          <a:bodyPr/>
          <a:lstStyle/>
          <a:p>
            <a:pPr marL="514350" indent="-514350">
              <a:buAutoNum type="arabicPeriod"/>
            </a:pPr>
            <a:r>
              <a:rPr lang="en-US" dirty="0"/>
              <a:t>Neural Signals</a:t>
            </a:r>
          </a:p>
          <a:p>
            <a:pPr marL="514350" indent="-514350">
              <a:buAutoNum type="arabicPeriod"/>
            </a:pPr>
            <a:r>
              <a:rPr lang="en-US" dirty="0"/>
              <a:t>Environmental and social signals</a:t>
            </a:r>
          </a:p>
          <a:p>
            <a:pPr marL="514350" indent="-514350">
              <a:buAutoNum type="arabicPeriod"/>
            </a:pPr>
            <a:r>
              <a:rPr lang="en-US" dirty="0"/>
              <a:t>Metabolic Signals</a:t>
            </a:r>
          </a:p>
          <a:p>
            <a:pPr marL="0" indent="0">
              <a:buNone/>
            </a:pPr>
            <a:endParaRPr lang="en-US" dirty="0"/>
          </a:p>
        </p:txBody>
      </p:sp>
    </p:spTree>
    <p:extLst>
      <p:ext uri="{BB962C8B-B14F-4D97-AF65-F5344CB8AC3E}">
        <p14:creationId xmlns:p14="http://schemas.microsoft.com/office/powerpoint/2010/main" val="2686006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11F64-53EE-20AE-EF7E-539219BDE9E5}"/>
              </a:ext>
            </a:extLst>
          </p:cNvPr>
          <p:cNvSpPr>
            <a:spLocks noGrp="1"/>
          </p:cNvSpPr>
          <p:nvPr>
            <p:ph type="title"/>
          </p:nvPr>
        </p:nvSpPr>
        <p:spPr/>
        <p:txBody>
          <a:bodyPr/>
          <a:lstStyle/>
          <a:p>
            <a:pPr algn="ctr"/>
            <a:r>
              <a:rPr lang="en-US" dirty="0"/>
              <a:t>Abnormalities of Puberty</a:t>
            </a:r>
          </a:p>
        </p:txBody>
      </p:sp>
      <p:sp>
        <p:nvSpPr>
          <p:cNvPr id="4" name="Text Placeholder 3">
            <a:extLst>
              <a:ext uri="{FF2B5EF4-FFF2-40B4-BE49-F238E27FC236}">
                <a16:creationId xmlns:a16="http://schemas.microsoft.com/office/drawing/2014/main" id="{89962D28-0C96-C2E0-7717-7263CD72EEE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1390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801C6A-BDA8-673C-A733-8B52BC8A8AAD}"/>
              </a:ext>
            </a:extLst>
          </p:cNvPr>
          <p:cNvSpPr>
            <a:spLocks noGrp="1"/>
          </p:cNvSpPr>
          <p:nvPr>
            <p:ph type="title"/>
          </p:nvPr>
        </p:nvSpPr>
        <p:spPr/>
        <p:txBody>
          <a:bodyPr/>
          <a:lstStyle/>
          <a:p>
            <a:r>
              <a:rPr lang="en-US" dirty="0"/>
              <a:t>Precocious Puberty</a:t>
            </a:r>
          </a:p>
        </p:txBody>
      </p:sp>
      <p:sp>
        <p:nvSpPr>
          <p:cNvPr id="6" name="Text Placeholder 5">
            <a:extLst>
              <a:ext uri="{FF2B5EF4-FFF2-40B4-BE49-F238E27FC236}">
                <a16:creationId xmlns:a16="http://schemas.microsoft.com/office/drawing/2014/main" id="{2545B6BF-4981-4582-42D2-F539E1056F39}"/>
              </a:ext>
            </a:extLst>
          </p:cNvPr>
          <p:cNvSpPr>
            <a:spLocks noGrp="1"/>
          </p:cNvSpPr>
          <p:nvPr>
            <p:ph type="body" idx="1"/>
          </p:nvPr>
        </p:nvSpPr>
        <p:spPr>
          <a:xfrm>
            <a:off x="836612" y="1104287"/>
            <a:ext cx="5157787" cy="823912"/>
          </a:xfrm>
        </p:spPr>
        <p:txBody>
          <a:bodyPr/>
          <a:lstStyle/>
          <a:p>
            <a:r>
              <a:rPr lang="en-US" dirty="0"/>
              <a:t>True precocious puberty</a:t>
            </a:r>
          </a:p>
        </p:txBody>
      </p:sp>
      <p:sp>
        <p:nvSpPr>
          <p:cNvPr id="7" name="Content Placeholder 6">
            <a:extLst>
              <a:ext uri="{FF2B5EF4-FFF2-40B4-BE49-F238E27FC236}">
                <a16:creationId xmlns:a16="http://schemas.microsoft.com/office/drawing/2014/main" id="{FBFE1AC6-6F46-FEF7-CB4F-8DB57D252BC9}"/>
              </a:ext>
            </a:extLst>
          </p:cNvPr>
          <p:cNvSpPr>
            <a:spLocks noGrp="1"/>
          </p:cNvSpPr>
          <p:nvPr>
            <p:ph sz="half" idx="2"/>
          </p:nvPr>
        </p:nvSpPr>
        <p:spPr>
          <a:xfrm>
            <a:off x="836612" y="2165710"/>
            <a:ext cx="5157787" cy="3684588"/>
          </a:xfrm>
        </p:spPr>
        <p:txBody>
          <a:bodyPr/>
          <a:lstStyle/>
          <a:p>
            <a:r>
              <a:rPr lang="en-US" dirty="0"/>
              <a:t>Constitutional (no cause identified)</a:t>
            </a:r>
          </a:p>
          <a:p>
            <a:r>
              <a:rPr lang="en-US" dirty="0"/>
              <a:t>Disorders involving hypothalamus </a:t>
            </a:r>
          </a:p>
          <a:p>
            <a:pPr marL="0" indent="0">
              <a:buNone/>
            </a:pPr>
            <a:r>
              <a:rPr lang="en-US" dirty="0"/>
              <a:t>   - Tumors</a:t>
            </a:r>
          </a:p>
          <a:p>
            <a:pPr marL="0" indent="0">
              <a:buNone/>
            </a:pPr>
            <a:r>
              <a:rPr lang="en-US" dirty="0"/>
              <a:t>   -Infections</a:t>
            </a:r>
          </a:p>
        </p:txBody>
      </p:sp>
      <p:sp>
        <p:nvSpPr>
          <p:cNvPr id="8" name="Text Placeholder 7">
            <a:extLst>
              <a:ext uri="{FF2B5EF4-FFF2-40B4-BE49-F238E27FC236}">
                <a16:creationId xmlns:a16="http://schemas.microsoft.com/office/drawing/2014/main" id="{4864D5B1-180E-AF02-52FA-FF1F1433EBA0}"/>
              </a:ext>
            </a:extLst>
          </p:cNvPr>
          <p:cNvSpPr>
            <a:spLocks noGrp="1"/>
          </p:cNvSpPr>
          <p:nvPr>
            <p:ph type="body" sz="quarter" idx="3"/>
          </p:nvPr>
        </p:nvSpPr>
        <p:spPr>
          <a:xfrm>
            <a:off x="6197603" y="1104287"/>
            <a:ext cx="5183188" cy="823912"/>
          </a:xfrm>
        </p:spPr>
        <p:txBody>
          <a:bodyPr/>
          <a:lstStyle/>
          <a:p>
            <a:r>
              <a:rPr lang="en-US" dirty="0"/>
              <a:t>Precocious </a:t>
            </a:r>
            <a:r>
              <a:rPr lang="en-US" dirty="0" err="1"/>
              <a:t>Pseudopuberty</a:t>
            </a:r>
            <a:endParaRPr lang="en-US" dirty="0"/>
          </a:p>
        </p:txBody>
      </p:sp>
      <p:sp>
        <p:nvSpPr>
          <p:cNvPr id="9" name="Content Placeholder 8">
            <a:extLst>
              <a:ext uri="{FF2B5EF4-FFF2-40B4-BE49-F238E27FC236}">
                <a16:creationId xmlns:a16="http://schemas.microsoft.com/office/drawing/2014/main" id="{4D402F18-D83C-A537-BABC-4107A2EF0C26}"/>
              </a:ext>
            </a:extLst>
          </p:cNvPr>
          <p:cNvSpPr>
            <a:spLocks noGrp="1"/>
          </p:cNvSpPr>
          <p:nvPr>
            <p:ph sz="quarter" idx="4"/>
          </p:nvPr>
        </p:nvSpPr>
        <p:spPr>
          <a:xfrm>
            <a:off x="6197603" y="2165709"/>
            <a:ext cx="5183188" cy="4480187"/>
          </a:xfrm>
        </p:spPr>
        <p:txBody>
          <a:bodyPr/>
          <a:lstStyle/>
          <a:p>
            <a:r>
              <a:rPr lang="en-US" dirty="0" err="1"/>
              <a:t>Congential</a:t>
            </a:r>
            <a:r>
              <a:rPr lang="en-US" dirty="0"/>
              <a:t> virilizing adrenal hyperplasia</a:t>
            </a:r>
          </a:p>
          <a:p>
            <a:r>
              <a:rPr lang="en-US" dirty="0"/>
              <a:t>Androgen secreting tumors (males)</a:t>
            </a:r>
          </a:p>
          <a:p>
            <a:r>
              <a:rPr lang="en-US" dirty="0"/>
              <a:t>Estrogen secreting tumors</a:t>
            </a:r>
          </a:p>
          <a:p>
            <a:pPr marL="0" indent="0">
              <a:buNone/>
            </a:pPr>
            <a:r>
              <a:rPr lang="en-US" dirty="0"/>
              <a:t>   (females)</a:t>
            </a:r>
          </a:p>
          <a:p>
            <a:pPr marL="0" indent="0">
              <a:buNone/>
            </a:pPr>
            <a:r>
              <a:rPr lang="en-US" dirty="0"/>
              <a:t>Gonadal Cause</a:t>
            </a:r>
          </a:p>
          <a:p>
            <a:pPr marL="514350" indent="-514350">
              <a:buAutoNum type="arabicPeriod"/>
            </a:pPr>
            <a:r>
              <a:rPr lang="en-US" dirty="0"/>
              <a:t>Leydig cell tumors of testis</a:t>
            </a:r>
          </a:p>
          <a:p>
            <a:pPr marL="514350" indent="-514350">
              <a:buAutoNum type="arabicPeriod"/>
            </a:pPr>
            <a:r>
              <a:rPr lang="en-US" dirty="0"/>
              <a:t>Granulosa cell tumors of ovary</a:t>
            </a:r>
          </a:p>
        </p:txBody>
      </p:sp>
    </p:spTree>
    <p:extLst>
      <p:ext uri="{BB962C8B-B14F-4D97-AF65-F5344CB8AC3E}">
        <p14:creationId xmlns:p14="http://schemas.microsoft.com/office/powerpoint/2010/main" val="2635729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FB7F056-2C0D-B17F-F97D-27B12C2631EB}"/>
              </a:ext>
            </a:extLst>
          </p:cNvPr>
          <p:cNvSpPr>
            <a:spLocks noGrp="1"/>
          </p:cNvSpPr>
          <p:nvPr>
            <p:ph type="title"/>
          </p:nvPr>
        </p:nvSpPr>
        <p:spPr/>
        <p:txBody>
          <a:bodyPr/>
          <a:lstStyle/>
          <a:p>
            <a:r>
              <a:rPr lang="en-US" dirty="0"/>
              <a:t>Delayed Puberty</a:t>
            </a:r>
          </a:p>
        </p:txBody>
      </p:sp>
      <p:sp>
        <p:nvSpPr>
          <p:cNvPr id="8" name="Content Placeholder 7">
            <a:extLst>
              <a:ext uri="{FF2B5EF4-FFF2-40B4-BE49-F238E27FC236}">
                <a16:creationId xmlns:a16="http://schemas.microsoft.com/office/drawing/2014/main" id="{5F57F025-1BA5-7CAE-286A-CFE3CC26D27F}"/>
              </a:ext>
            </a:extLst>
          </p:cNvPr>
          <p:cNvSpPr>
            <a:spLocks noGrp="1"/>
          </p:cNvSpPr>
          <p:nvPr>
            <p:ph idx="1"/>
          </p:nvPr>
        </p:nvSpPr>
        <p:spPr/>
        <p:txBody>
          <a:bodyPr/>
          <a:lstStyle/>
          <a:p>
            <a:pPr marL="0" indent="0">
              <a:buNone/>
            </a:pPr>
            <a:r>
              <a:rPr lang="en-US" dirty="0"/>
              <a:t>Menarche &gt; 17 years in females</a:t>
            </a:r>
          </a:p>
          <a:p>
            <a:pPr marL="0" indent="0">
              <a:buNone/>
            </a:pPr>
            <a:r>
              <a:rPr lang="en-US" dirty="0"/>
              <a:t>Testicular development &gt; 20 years in males</a:t>
            </a:r>
          </a:p>
          <a:p>
            <a:pPr marL="0" indent="0">
              <a:buNone/>
            </a:pPr>
            <a:r>
              <a:rPr lang="en-US" b="1" dirty="0"/>
              <a:t>Males: </a:t>
            </a:r>
            <a:r>
              <a:rPr lang="en-US" dirty="0" err="1"/>
              <a:t>Enunchoidism</a:t>
            </a:r>
            <a:r>
              <a:rPr lang="en-US" dirty="0"/>
              <a:t>         </a:t>
            </a:r>
            <a:r>
              <a:rPr lang="en-US" b="1" dirty="0"/>
              <a:t>Female: </a:t>
            </a:r>
            <a:r>
              <a:rPr lang="en-US" dirty="0"/>
              <a:t>Present with primary amenorrhea</a:t>
            </a:r>
          </a:p>
          <a:p>
            <a:pPr marL="0" indent="0">
              <a:buNone/>
            </a:pPr>
            <a:endParaRPr lang="en-US" dirty="0"/>
          </a:p>
          <a:p>
            <a:pPr marL="0" indent="0">
              <a:buNone/>
            </a:pPr>
            <a:r>
              <a:rPr lang="en-US" u="sng" dirty="0"/>
              <a:t>Causes: </a:t>
            </a:r>
          </a:p>
          <a:p>
            <a:pPr marL="0" indent="0">
              <a:buNone/>
            </a:pPr>
            <a:r>
              <a:rPr lang="en-US" dirty="0"/>
              <a:t>Constitutional</a:t>
            </a:r>
          </a:p>
          <a:p>
            <a:pPr marL="0" indent="0">
              <a:buNone/>
            </a:pPr>
            <a:r>
              <a:rPr lang="en-US" dirty="0"/>
              <a:t>Panhypopituitarism</a:t>
            </a:r>
          </a:p>
          <a:p>
            <a:pPr marL="0" indent="0">
              <a:buNone/>
            </a:pPr>
            <a:r>
              <a:rPr lang="en-US" dirty="0"/>
              <a:t>Primary gonadal failure as in Turner’s syndrome</a:t>
            </a:r>
          </a:p>
        </p:txBody>
      </p:sp>
    </p:spTree>
    <p:extLst>
      <p:ext uri="{BB962C8B-B14F-4D97-AF65-F5344CB8AC3E}">
        <p14:creationId xmlns:p14="http://schemas.microsoft.com/office/powerpoint/2010/main" val="531117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C9245-177E-6B16-2EA3-C26E72560990}"/>
              </a:ext>
            </a:extLst>
          </p:cNvPr>
          <p:cNvSpPr>
            <a:spLocks noGrp="1"/>
          </p:cNvSpPr>
          <p:nvPr>
            <p:ph type="title"/>
          </p:nvPr>
        </p:nvSpPr>
        <p:spPr>
          <a:xfrm>
            <a:off x="838200" y="2469824"/>
            <a:ext cx="10515600" cy="1621958"/>
          </a:xfrm>
        </p:spPr>
        <p:txBody>
          <a:bodyPr>
            <a:normAutofit/>
          </a:bodyPr>
          <a:lstStyle/>
          <a:p>
            <a:pPr algn="ctr"/>
            <a:r>
              <a:rPr lang="en-US" sz="4800" b="1" dirty="0"/>
              <a:t>Menopause and Changes</a:t>
            </a:r>
          </a:p>
        </p:txBody>
      </p:sp>
      <p:sp>
        <p:nvSpPr>
          <p:cNvPr id="3" name="Content Placeholder 2">
            <a:extLst>
              <a:ext uri="{FF2B5EF4-FFF2-40B4-BE49-F238E27FC236}">
                <a16:creationId xmlns:a16="http://schemas.microsoft.com/office/drawing/2014/main" id="{E2082C14-D20C-2B51-6B01-709C5E04B32C}"/>
              </a:ext>
            </a:extLst>
          </p:cNvPr>
          <p:cNvSpPr>
            <a:spLocks noGrp="1"/>
          </p:cNvSpPr>
          <p:nvPr>
            <p:ph idx="1"/>
          </p:nvPr>
        </p:nvSpPr>
        <p:spPr/>
        <p:txBody>
          <a:bodyPr/>
          <a:lstStyle/>
          <a:p>
            <a:pPr marL="0" indent="0">
              <a:buNone/>
            </a:pPr>
            <a:r>
              <a:rPr lang="en-US" dirty="0"/>
              <a:t> </a:t>
            </a:r>
          </a:p>
        </p:txBody>
      </p:sp>
    </p:spTree>
    <p:extLst>
      <p:ext uri="{BB962C8B-B14F-4D97-AF65-F5344CB8AC3E}">
        <p14:creationId xmlns:p14="http://schemas.microsoft.com/office/powerpoint/2010/main" val="3692875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A4677-F3B7-3805-6F8B-681F6C391EA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4474114-9127-6C7F-15D5-9725322BCEB6}"/>
              </a:ext>
            </a:extLst>
          </p:cNvPr>
          <p:cNvSpPr>
            <a:spLocks noGrp="1"/>
          </p:cNvSpPr>
          <p:nvPr>
            <p:ph idx="1"/>
          </p:nvPr>
        </p:nvSpPr>
        <p:spPr/>
        <p:txBody>
          <a:bodyPr/>
          <a:lstStyle/>
          <a:p>
            <a:pPr marL="0" indent="0">
              <a:buNone/>
            </a:pPr>
            <a:r>
              <a:rPr lang="en-US" dirty="0"/>
              <a:t>Cessation of menstrual cycle with age is known as menopause</a:t>
            </a:r>
          </a:p>
          <a:p>
            <a:pPr marL="0" indent="0">
              <a:buNone/>
            </a:pPr>
            <a:endParaRPr lang="en-US" dirty="0"/>
          </a:p>
          <a:p>
            <a:pPr marL="0" indent="0">
              <a:buNone/>
            </a:pPr>
            <a:r>
              <a:rPr lang="en-US" dirty="0"/>
              <a:t>At age 45- menstrual cycles become irregular </a:t>
            </a:r>
          </a:p>
          <a:p>
            <a:pPr marL="0" indent="0">
              <a:buNone/>
            </a:pPr>
            <a:r>
              <a:rPr lang="en-US" dirty="0"/>
              <a:t>At age 55- Cycle stops</a:t>
            </a:r>
          </a:p>
          <a:p>
            <a:pPr marL="0" indent="0">
              <a:buNone/>
            </a:pPr>
            <a:endParaRPr lang="en-US" dirty="0"/>
          </a:p>
        </p:txBody>
      </p:sp>
    </p:spTree>
    <p:extLst>
      <p:ext uri="{BB962C8B-B14F-4D97-AF65-F5344CB8AC3E}">
        <p14:creationId xmlns:p14="http://schemas.microsoft.com/office/powerpoint/2010/main" val="3640637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CB21-251F-3BD1-DA65-58991D88DCE7}"/>
              </a:ext>
            </a:extLst>
          </p:cNvPr>
          <p:cNvSpPr>
            <a:spLocks noGrp="1"/>
          </p:cNvSpPr>
          <p:nvPr>
            <p:ph type="title"/>
          </p:nvPr>
        </p:nvSpPr>
        <p:spPr/>
        <p:txBody>
          <a:bodyPr/>
          <a:lstStyle/>
          <a:p>
            <a:r>
              <a:rPr lang="en-US" dirty="0"/>
              <a:t>Changes in menopause</a:t>
            </a:r>
          </a:p>
        </p:txBody>
      </p:sp>
      <p:sp>
        <p:nvSpPr>
          <p:cNvPr id="3" name="Content Placeholder 2">
            <a:extLst>
              <a:ext uri="{FF2B5EF4-FFF2-40B4-BE49-F238E27FC236}">
                <a16:creationId xmlns:a16="http://schemas.microsoft.com/office/drawing/2014/main" id="{C596BA13-2ADA-A3A9-4194-D9597383DEDC}"/>
              </a:ext>
            </a:extLst>
          </p:cNvPr>
          <p:cNvSpPr>
            <a:spLocks noGrp="1"/>
          </p:cNvSpPr>
          <p:nvPr>
            <p:ph idx="1"/>
          </p:nvPr>
        </p:nvSpPr>
        <p:spPr/>
        <p:txBody>
          <a:bodyPr>
            <a:normAutofit fontScale="92500" lnSpcReduction="10000"/>
          </a:bodyPr>
          <a:lstStyle/>
          <a:p>
            <a:pPr marL="0" indent="0">
              <a:buNone/>
            </a:pPr>
            <a:r>
              <a:rPr lang="en-US" dirty="0"/>
              <a:t>Reason: Very few primordial follicles in ovary- FSH and LSH stimulate follicles, but less estrogen due to less follicles- FSH and LH secretion not inhibited</a:t>
            </a:r>
          </a:p>
          <a:p>
            <a:pPr marL="0" indent="0">
              <a:buNone/>
            </a:pPr>
            <a:r>
              <a:rPr lang="en-US" dirty="0"/>
              <a:t>Manifestation:</a:t>
            </a:r>
          </a:p>
          <a:p>
            <a:pPr marL="514350" indent="-514350">
              <a:buAutoNum type="arabicPeriod"/>
            </a:pPr>
            <a:r>
              <a:rPr lang="en-US" dirty="0"/>
              <a:t>Hot flushes – Extreme skin flushing</a:t>
            </a:r>
          </a:p>
          <a:p>
            <a:pPr marL="514350" indent="-514350">
              <a:buAutoNum type="arabicPeriod"/>
            </a:pPr>
            <a:r>
              <a:rPr lang="en-US" dirty="0"/>
              <a:t>Psychological changes, anxiety, tiredness, mood swings and </a:t>
            </a:r>
          </a:p>
          <a:p>
            <a:pPr marL="514350" indent="-514350">
              <a:buAutoNum type="arabicPeriod"/>
            </a:pPr>
            <a:r>
              <a:rPr lang="en-US" dirty="0"/>
              <a:t>Psychological sensation of dyspnea</a:t>
            </a:r>
          </a:p>
          <a:p>
            <a:pPr marL="514350" indent="-514350">
              <a:buAutoNum type="arabicPeriod"/>
            </a:pPr>
            <a:r>
              <a:rPr lang="en-US" dirty="0"/>
              <a:t>Vaginal dryness</a:t>
            </a:r>
          </a:p>
          <a:p>
            <a:pPr marL="514350" indent="-514350">
              <a:buAutoNum type="arabicPeriod"/>
            </a:pPr>
            <a:r>
              <a:rPr lang="en-US" dirty="0"/>
              <a:t>Irritability</a:t>
            </a:r>
          </a:p>
          <a:p>
            <a:pPr marL="514350" indent="-514350">
              <a:buAutoNum type="arabicPeriod"/>
            </a:pPr>
            <a:r>
              <a:rPr lang="en-US" dirty="0"/>
              <a:t>Fatigue</a:t>
            </a:r>
          </a:p>
          <a:p>
            <a:pPr marL="514350" indent="-514350">
              <a:buAutoNum type="arabicPeriod"/>
            </a:pPr>
            <a:r>
              <a:rPr lang="en-US" dirty="0"/>
              <a:t>Decrease bone density- osteoporosis</a:t>
            </a:r>
          </a:p>
          <a:p>
            <a:pPr marL="0" indent="0">
              <a:buNone/>
            </a:pPr>
            <a:endParaRPr lang="en-US" dirty="0"/>
          </a:p>
          <a:p>
            <a:pPr marL="514350" indent="-514350">
              <a:buAutoNum type="arabicPeriod"/>
            </a:pPr>
            <a:endParaRPr lang="en-US" dirty="0"/>
          </a:p>
        </p:txBody>
      </p:sp>
    </p:spTree>
    <p:extLst>
      <p:ext uri="{BB962C8B-B14F-4D97-AF65-F5344CB8AC3E}">
        <p14:creationId xmlns:p14="http://schemas.microsoft.com/office/powerpoint/2010/main" val="323780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E38F9-D692-680E-436F-F805298E9D8C}"/>
              </a:ext>
            </a:extLst>
          </p:cNvPr>
          <p:cNvSpPr>
            <a:spLocks noGrp="1"/>
          </p:cNvSpPr>
          <p:nvPr>
            <p:ph type="title"/>
          </p:nvPr>
        </p:nvSpPr>
        <p:spPr/>
        <p:txBody>
          <a:bodyPr/>
          <a:lstStyle/>
          <a:p>
            <a:r>
              <a:rPr lang="en-US" dirty="0"/>
              <a:t>Treatment in menopause</a:t>
            </a:r>
          </a:p>
        </p:txBody>
      </p:sp>
      <p:sp>
        <p:nvSpPr>
          <p:cNvPr id="3" name="Content Placeholder 2">
            <a:extLst>
              <a:ext uri="{FF2B5EF4-FFF2-40B4-BE49-F238E27FC236}">
                <a16:creationId xmlns:a16="http://schemas.microsoft.com/office/drawing/2014/main" id="{012BEEE1-CE81-675F-6180-2A2FC0D20F47}"/>
              </a:ext>
            </a:extLst>
          </p:cNvPr>
          <p:cNvSpPr>
            <a:spLocks noGrp="1"/>
          </p:cNvSpPr>
          <p:nvPr>
            <p:ph idx="1"/>
          </p:nvPr>
        </p:nvSpPr>
        <p:spPr/>
        <p:txBody>
          <a:bodyPr/>
          <a:lstStyle/>
          <a:p>
            <a:r>
              <a:rPr lang="en-US" dirty="0"/>
              <a:t>Estrogen (Hormone replacement is osteoporosis is very severe)</a:t>
            </a:r>
          </a:p>
          <a:p>
            <a:r>
              <a:rPr lang="en-US" dirty="0"/>
              <a:t>Calcium and Vitamin D3</a:t>
            </a:r>
          </a:p>
          <a:p>
            <a:r>
              <a:rPr lang="en-US" dirty="0"/>
              <a:t>Counselling, love and care</a:t>
            </a:r>
          </a:p>
          <a:p>
            <a:endParaRPr lang="en-US" dirty="0"/>
          </a:p>
        </p:txBody>
      </p:sp>
    </p:spTree>
    <p:extLst>
      <p:ext uri="{BB962C8B-B14F-4D97-AF65-F5344CB8AC3E}">
        <p14:creationId xmlns:p14="http://schemas.microsoft.com/office/powerpoint/2010/main" val="3670139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2F809-D7B9-EF36-8DCF-19A6F3D9FDF1}"/>
              </a:ext>
            </a:extLst>
          </p:cNvPr>
          <p:cNvSpPr>
            <a:spLocks noGrp="1"/>
          </p:cNvSpPr>
          <p:nvPr>
            <p:ph type="title"/>
          </p:nvPr>
        </p:nvSpPr>
        <p:spPr>
          <a:xfrm>
            <a:off x="838200" y="2766218"/>
            <a:ext cx="10515600" cy="1325563"/>
          </a:xfrm>
        </p:spPr>
        <p:txBody>
          <a:bodyPr/>
          <a:lstStyle/>
          <a:p>
            <a:pPr algn="ctr"/>
            <a:r>
              <a:rPr lang="en-US" dirty="0"/>
              <a:t>Thank You</a:t>
            </a:r>
          </a:p>
        </p:txBody>
      </p:sp>
      <p:sp>
        <p:nvSpPr>
          <p:cNvPr id="3" name="Content Placeholder 2">
            <a:extLst>
              <a:ext uri="{FF2B5EF4-FFF2-40B4-BE49-F238E27FC236}">
                <a16:creationId xmlns:a16="http://schemas.microsoft.com/office/drawing/2014/main" id="{D3E03039-F62B-E246-0C86-1B0B0D591752}"/>
              </a:ext>
            </a:extLst>
          </p:cNvPr>
          <p:cNvSpPr>
            <a:spLocks noGrp="1"/>
          </p:cNvSpPr>
          <p:nvPr>
            <p:ph idx="1"/>
          </p:nvPr>
        </p:nvSpPr>
        <p:spPr/>
        <p:txBody>
          <a:bodyPr/>
          <a:lstStyle/>
          <a:p>
            <a:pPr marL="0" indent="0">
              <a:buNone/>
            </a:pPr>
            <a:r>
              <a:rPr lang="en-US" dirty="0"/>
              <a:t> </a:t>
            </a:r>
          </a:p>
        </p:txBody>
      </p:sp>
    </p:spTree>
    <p:extLst>
      <p:ext uri="{BB962C8B-B14F-4D97-AF65-F5344CB8AC3E}">
        <p14:creationId xmlns:p14="http://schemas.microsoft.com/office/powerpoint/2010/main" val="3904148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TotalTime>
  <Words>1282</Words>
  <Application>Microsoft Office PowerPoint</Application>
  <PresentationFormat>Widescreen</PresentationFormat>
  <Paragraphs>99</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Puberty and Menopause</vt:lpstr>
      <vt:lpstr>Contents</vt:lpstr>
      <vt:lpstr>Case Scenarios</vt:lpstr>
      <vt:lpstr>Case 1: True Precocious Puberty </vt:lpstr>
      <vt:lpstr>Case 2: Precocious Pseudopuberty</vt:lpstr>
      <vt:lpstr>Case 3: Delayed Puberty</vt:lpstr>
      <vt:lpstr>Case 4: Menopause</vt:lpstr>
      <vt:lpstr>Puberty and Abnormalities</vt:lpstr>
      <vt:lpstr>Definition</vt:lpstr>
      <vt:lpstr>Changes in puberty</vt:lpstr>
      <vt:lpstr>Changes at puberty- timeline</vt:lpstr>
      <vt:lpstr>Mechanism of onset of puberty </vt:lpstr>
      <vt:lpstr>Stimuli causing GnRH pulse frequency increase</vt:lpstr>
      <vt:lpstr>Abnormalities of Puberty</vt:lpstr>
      <vt:lpstr>Precocious Puberty</vt:lpstr>
      <vt:lpstr>Delayed Puberty</vt:lpstr>
      <vt:lpstr>Menopause and Changes</vt:lpstr>
      <vt:lpstr>PowerPoint Presentation</vt:lpstr>
      <vt:lpstr>Changes in menopause</vt:lpstr>
      <vt:lpstr>Treatment in menopause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 Akhil Raj Kumar Yerra</dc:creator>
  <cp:lastModifiedBy>Vishnu Akhil Raj Kumar Yerra</cp:lastModifiedBy>
  <cp:revision>32</cp:revision>
  <dcterms:created xsi:type="dcterms:W3CDTF">2025-06-04T04:56:45Z</dcterms:created>
  <dcterms:modified xsi:type="dcterms:W3CDTF">2025-06-25T02:46:31Z</dcterms:modified>
</cp:coreProperties>
</file>